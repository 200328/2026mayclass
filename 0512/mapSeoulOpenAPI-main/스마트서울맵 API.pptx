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81" r:id="rId2"/>
    <p:sldId id="275" r:id="rId3"/>
    <p:sldId id="279" r:id="rId4"/>
    <p:sldId id="280" r:id="rId5"/>
    <p:sldId id="272" r:id="rId6"/>
    <p:sldId id="282" r:id="rId7"/>
    <p:sldId id="274" r:id="rId8"/>
    <p:sldId id="276" r:id="rId9"/>
    <p:sldId id="277" r:id="rId10"/>
    <p:sldId id="278" r:id="rId11"/>
    <p:sldId id="284" r:id="rId12"/>
    <p:sldId id="286" r:id="rId13"/>
    <p:sldId id="285" r:id="rId14"/>
    <p:sldId id="287" r:id="rId15"/>
    <p:sldId id="288" r:id="rId16"/>
    <p:sldId id="289" r:id="rId17"/>
    <p:sldId id="290" r:id="rId18"/>
    <p:sldId id="291" r:id="rId19"/>
    <p:sldId id="292" r:id="rId2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06" autoAdjust="0"/>
  </p:normalViewPr>
  <p:slideViewPr>
    <p:cSldViewPr snapToGrid="0">
      <p:cViewPr varScale="1">
        <p:scale>
          <a:sx n="114" d="100"/>
          <a:sy n="114" d="100"/>
        </p:scale>
        <p:origin x="414" y="21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6CC08C-0E47-404A-9C27-EA1B4EE4C7CA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2026년 5월 8일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E16EC8A-0758-4FA9-BF4D-3119057076D1}" type="datetime4">
              <a:rPr lang="ko-KR" altLang="en-US" smtClean="0"/>
              <a:pPr/>
              <a:t>2026년 5월 8일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 smtClean="0"/>
              <a:t>마스터 텍스트 스타일을 편집하려면 클릭하세요</a:t>
            </a:r>
            <a:r>
              <a:rPr lang="en-US" altLang="ko-KR" noProof="0" dirty="0" smtClean="0"/>
              <a:t>.</a:t>
            </a:r>
          </a:p>
          <a:p>
            <a:pPr lvl="1" rtl="0"/>
            <a:r>
              <a:rPr lang="ko-KR" altLang="en-US" noProof="0" dirty="0" smtClean="0"/>
              <a:t>둘째 수준</a:t>
            </a:r>
          </a:p>
          <a:p>
            <a:pPr lvl="2" rtl="0"/>
            <a:r>
              <a:rPr lang="ko-KR" altLang="en-US" noProof="0" dirty="0" smtClean="0"/>
              <a:t>셋째 수준</a:t>
            </a:r>
          </a:p>
          <a:p>
            <a:pPr lvl="3" rtl="0"/>
            <a:r>
              <a:rPr lang="ko-KR" altLang="en-US" noProof="0" dirty="0" smtClean="0"/>
              <a:t>넷째 수준</a:t>
            </a:r>
          </a:p>
          <a:p>
            <a:pPr lvl="4" rtl="0"/>
            <a:r>
              <a:rPr lang="ko-KR" altLang="en-US" noProof="0" dirty="0" smtClean="0"/>
              <a:t>다섯째 수준</a:t>
            </a:r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2869989-EB00-4EE7-BCB5-25BDC5BB29F8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7653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5439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087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556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12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33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9718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8444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952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9820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679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9269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2837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4784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501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0802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658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6712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814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직선 연결선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그룹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직선 연결선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그룹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직선 연결선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직선 연결선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그룹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직선 연결선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그룹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직선 연결선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직선 연결선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100000"/>
              </a:lnSpc>
              <a:defRPr sz="800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58" name="직선 연결선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5419DA-7218-42E5-A443-F000500111E1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직선 연결선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그룹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직선 연결선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그룹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직선 연결선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직선 연결선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그룹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직선 연결선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그룹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직선 연결선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직선 연결선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cxnSp>
        <p:nvCxnSpPr>
          <p:cNvPr id="58" name="직선 연결선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498C52F-1DF1-4226-BAB6-C1E2EE4C9D62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B1E1FFC-F755-4558-8D3C-A157D1A01A8A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2A33C0-A4A8-4C90-B6DA-35B8CF58C816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그룹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직선 연결선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연결선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그룹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직선 연결선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직선 연결선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그룹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직선 연결선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직선 연결선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직선 연결선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직선 연결선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직선 연결선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그룹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직선 연결선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직선 연결선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직선 연결선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직선 연결선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직선 연결선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직선 연결선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직선 연결선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바닥글 개체 틀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212" name="날짜 개체 틀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3CB1B8F-A14A-4BE4-A9B9-3B263F04145C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214" name="슬라이드 번호 개체 틀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직선 연결선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그룹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직선 연결선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그룹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그룹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직선 연결선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그룹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연결선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직사각형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cxnSp>
        <p:nvCxnSpPr>
          <p:cNvPr id="60" name="직선 연결선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B9196A3-957C-4113-A568-B6ED9AEA3D01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직선 연결선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그룹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직선 연결선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그룹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그룹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직선 연결선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그룹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직선 연결선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직선 연결선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직사각형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합니다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바닥글 추가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A5B65E4-62A8-4988-B07B-5D6D443B14ED}" type="datetime4">
              <a:rPr lang="ko-KR" altLang="en-US" smtClean="0"/>
              <a:t>2026년 5월 8일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8EB6286-0DE7-4336-9826-977AD102FCF2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그룹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직선 연결선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그룹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직선 연결선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그룹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직선 연결선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직선 연결선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직선 연결선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직선 연결선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그룹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직선 연결선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그룹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직선 연결선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직선 연결선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직선 연결선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 smtClean="0"/>
              <a:t>마스터 텍스트 스타일을 편집하려면 클릭하세요</a:t>
            </a:r>
            <a:r>
              <a:rPr lang="en-US" altLang="ko-KR" noProof="0" dirty="0" smtClean="0"/>
              <a:t>.</a:t>
            </a:r>
          </a:p>
          <a:p>
            <a:pPr lvl="1" rtl="0"/>
            <a:r>
              <a:rPr lang="ko-KR" altLang="en-US" noProof="0" dirty="0" smtClean="0"/>
              <a:t>둘째 수준</a:t>
            </a:r>
          </a:p>
          <a:p>
            <a:pPr lvl="2" rtl="0"/>
            <a:r>
              <a:rPr lang="ko-KR" altLang="en-US" noProof="0" dirty="0" smtClean="0"/>
              <a:t>셋째 수준</a:t>
            </a:r>
          </a:p>
          <a:p>
            <a:pPr lvl="3" rtl="0"/>
            <a:r>
              <a:rPr lang="ko-KR" altLang="en-US" noProof="0" dirty="0" smtClean="0"/>
              <a:t>넷째 수준</a:t>
            </a:r>
          </a:p>
          <a:p>
            <a:pPr lvl="4" rtl="0"/>
            <a:r>
              <a:rPr lang="ko-KR" altLang="en-US" noProof="0" dirty="0" smtClean="0"/>
              <a:t>다섯째 수준</a:t>
            </a:r>
            <a:endParaRPr lang="ko-KR" altLang="en-US" noProof="0" dirty="0"/>
          </a:p>
        </p:txBody>
      </p:sp>
      <p:cxnSp>
        <p:nvCxnSpPr>
          <p:cNvPr id="148" name="직선 연결선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 smtClean="0"/>
              <a:t>바닥글 추가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841261" y="6289679"/>
            <a:ext cx="1418727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8BEB146-D335-4DA5-9826-58595BCDBE2E}" type="datetime4">
              <a:rPr lang="ko-KR" altLang="en-US" noProof="0" smtClean="0"/>
              <a:t>2026년 5월 8일</a:t>
            </a:fld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179388" algn="l" defTabSz="914400" rtl="0" eaLnBrk="1" latinLnBrk="1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914400" indent="-182880" algn="l" defTabSz="914400" rtl="0" eaLnBrk="1" latinLnBrk="1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1430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3716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o.go.k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p.seoul.go.kr/openapi/v5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ap.seoul.go.kr/openapi/v5/)%7bthemeKey%7d/public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p.seoul.go.kr/openapi/v5/$%7bthemeKey%7d/public/themes/ko?theme_type=2&amp;page_size=30&amp;page_no=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ap.seoul.go.kr/openapi/v5/$%7bthemeKey%7d/public/themes/contents/ko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280915"/>
            <a:ext cx="9554361" cy="639046"/>
          </a:xfrm>
        </p:spPr>
        <p:txBody>
          <a:bodyPr rtlCol="0"/>
          <a:lstStyle/>
          <a:p>
            <a:pPr rtl="0"/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실습 준비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9100" y="1371599"/>
            <a:ext cx="11286750" cy="5316071"/>
          </a:xfrm>
        </p:spPr>
        <p:txBody>
          <a:bodyPr rtlCol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Tool : </a:t>
            </a:r>
            <a:r>
              <a:rPr lang="en-US" altLang="ko-KR" sz="1800" dirty="0" err="1" smtClean="0"/>
              <a:t>vscode</a:t>
            </a:r>
            <a:endParaRPr lang="en-US" altLang="ko-KR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필수 확장 </a:t>
            </a:r>
            <a:r>
              <a:rPr lang="en-US" altLang="ko-KR" sz="1800" dirty="0" smtClean="0"/>
              <a:t>Live Server : </a:t>
            </a:r>
            <a:r>
              <a:rPr lang="ko-KR" altLang="en-US" sz="1800" dirty="0" smtClean="0"/>
              <a:t>실시간 </a:t>
            </a:r>
            <a:r>
              <a:rPr lang="ko-KR" altLang="en-US" sz="1800" dirty="0" smtClean="0"/>
              <a:t>미리 보기</a:t>
            </a:r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smtClean="0"/>
              <a:t>API</a:t>
            </a:r>
            <a:r>
              <a:rPr lang="ko-KR" altLang="en-US" sz="1800" dirty="0" smtClean="0"/>
              <a:t>키 직접 신청하기  </a:t>
            </a:r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6019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7681" y="75536"/>
            <a:ext cx="9554361" cy="639046"/>
          </a:xfrm>
        </p:spPr>
        <p:txBody>
          <a:bodyPr rtlCol="0"/>
          <a:lstStyle/>
          <a:p>
            <a:pPr rtl="0"/>
            <a:r>
              <a:rPr lang="en-US" altLang="ko-KR" dirty="0" smtClean="0"/>
              <a:t>API </a:t>
            </a:r>
            <a:r>
              <a:rPr lang="ko-KR" altLang="en-US" dirty="0" smtClean="0"/>
              <a:t>흐름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887" y="1239851"/>
            <a:ext cx="2547969" cy="13931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0647" y="2617034"/>
            <a:ext cx="248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지도엔진초기화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L.Map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호출 함수 실행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492" y="1508361"/>
            <a:ext cx="3085793" cy="3069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82605" y="1070574"/>
            <a:ext cx="3023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스마트서울맵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30438" y="852604"/>
            <a:ext cx="3065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웹 브라우저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09122" y="2280331"/>
            <a:ext cx="308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fetch(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+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쿼리 스트링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theme_id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=…&amp;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coord_x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=…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98047" y="4677026"/>
            <a:ext cx="3136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권한 검증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조건에 맞는 공간 데이터 검색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6376" y="4556788"/>
            <a:ext cx="2624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JSON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포맷 데이터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data.body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wait 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response.json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화살표 26"/>
          <p:cNvSpPr/>
          <p:nvPr/>
        </p:nvSpPr>
        <p:spPr>
          <a:xfrm>
            <a:off x="4546376" y="1403713"/>
            <a:ext cx="2669258" cy="78632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085354" y="1587834"/>
            <a:ext cx="1482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(GET Request)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00647" y="3476006"/>
            <a:ext cx="2259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최종결과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30438" y="5200246"/>
            <a:ext cx="2870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좌표 </a:t>
            </a: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파싱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마커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생성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647" y="3788631"/>
            <a:ext cx="2547969" cy="1393162"/>
          </a:xfrm>
          <a:prstGeom prst="rect">
            <a:avLst/>
          </a:prstGeom>
        </p:spPr>
      </p:pic>
      <p:sp>
        <p:nvSpPr>
          <p:cNvPr id="37" name="오른쪽 화살표 36"/>
          <p:cNvSpPr/>
          <p:nvPr/>
        </p:nvSpPr>
        <p:spPr>
          <a:xfrm rot="10800000">
            <a:off x="4491762" y="3770463"/>
            <a:ext cx="2669258" cy="78632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285232" y="3994348"/>
            <a:ext cx="1191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(Response)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946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280915"/>
            <a:ext cx="9554361" cy="639046"/>
          </a:xfrm>
        </p:spPr>
        <p:txBody>
          <a:bodyPr rtlCol="0"/>
          <a:lstStyle/>
          <a:p>
            <a:pPr rtl="0"/>
            <a:r>
              <a:rPr lang="ko-KR" altLang="en-US" dirty="0" err="1" smtClean="0"/>
              <a:t>법정동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8800" y="1525981"/>
            <a:ext cx="11227732" cy="3356412"/>
          </a:xfrm>
        </p:spPr>
        <p:txBody>
          <a:bodyPr rtlCol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 err="1" smtClean="0"/>
              <a:t>법정동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(</a:t>
            </a:r>
            <a:r>
              <a:rPr lang="en-US" altLang="ko-KR" sz="1800" dirty="0"/>
              <a:t>"</a:t>
            </a:r>
            <a:r>
              <a:rPr lang="ko-KR" altLang="en-US" sz="1800" dirty="0"/>
              <a:t>법으로 정해진 동네 </a:t>
            </a:r>
            <a:r>
              <a:rPr lang="ko-KR" altLang="en-US" sz="1800" dirty="0" smtClean="0"/>
              <a:t>이름</a:t>
            </a:r>
            <a:r>
              <a:rPr lang="en-US" altLang="ko-KR" sz="1800" dirty="0" smtClean="0"/>
              <a:t>“)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</a:t>
            </a:r>
            <a:r>
              <a:rPr lang="ko-KR" altLang="en-US" sz="1800" dirty="0" smtClean="0"/>
              <a:t>정의 </a:t>
            </a:r>
            <a:r>
              <a:rPr lang="en-US" altLang="ko-KR" sz="1800" dirty="0" smtClean="0"/>
              <a:t>: 1914</a:t>
            </a:r>
            <a:r>
              <a:rPr lang="ko-KR" altLang="en-US" sz="1800" dirty="0" smtClean="0"/>
              <a:t>년 행정구역 개편 때부터 사용된 유서 깊은 명칭으로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변하지 않는 고유의 동 이름 입니다</a:t>
            </a:r>
            <a:r>
              <a:rPr lang="en-US" altLang="ko-KR" sz="1800" dirty="0" smtClean="0"/>
              <a:t>. 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</a:t>
            </a:r>
            <a:r>
              <a:rPr lang="ko-KR" altLang="en-US" sz="1800" dirty="0" smtClean="0"/>
              <a:t>용도 </a:t>
            </a:r>
            <a:r>
              <a:rPr lang="en-US" altLang="ko-KR" sz="1800" dirty="0" smtClean="0"/>
              <a:t>: 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   </a:t>
            </a:r>
            <a:r>
              <a:rPr lang="ko-KR" altLang="en-US" sz="1800" dirty="0" smtClean="0"/>
              <a:t>부동산관련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등기부등본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토지대장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건축물대장 등 모든 법적 장부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   </a:t>
            </a:r>
            <a:r>
              <a:rPr lang="ko-KR" altLang="en-US" sz="1800" dirty="0" smtClean="0"/>
              <a:t>신분증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주민등록증 뒷면의 주소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인감증명서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smtClean="0"/>
              <a:t>        </a:t>
            </a:r>
            <a:r>
              <a:rPr lang="ko-KR" altLang="en-US" sz="1800" dirty="0" smtClean="0"/>
              <a:t>지번 주소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우리가 흔히 아는 지번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번지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은 </a:t>
            </a:r>
            <a:r>
              <a:rPr lang="ko-KR" altLang="en-US" sz="1800" dirty="0" err="1" smtClean="0"/>
              <a:t>법정동을</a:t>
            </a:r>
            <a:r>
              <a:rPr lang="ko-KR" altLang="en-US" sz="1800" dirty="0" smtClean="0"/>
              <a:t> 기준으로 매겨집니다</a:t>
            </a:r>
            <a:r>
              <a:rPr lang="en-US" altLang="ko-KR" sz="1800" dirty="0" smtClean="0"/>
              <a:t>. 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</a:t>
            </a:r>
            <a:r>
              <a:rPr lang="ko-KR" altLang="en-US" sz="1800" dirty="0" smtClean="0"/>
              <a:t>특징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신도시가 생기거나 인구가 변해도 </a:t>
            </a:r>
            <a:r>
              <a:rPr lang="ko-KR" altLang="en-US" sz="1800" dirty="0" err="1" smtClean="0"/>
              <a:t>법정동</a:t>
            </a:r>
            <a:r>
              <a:rPr lang="ko-KR" altLang="en-US" sz="1800" dirty="0" smtClean="0"/>
              <a:t> 이름은 쉽게 바뀌지 않습니다</a:t>
            </a:r>
            <a:r>
              <a:rPr lang="en-US" altLang="ko-KR" sz="1800" dirty="0" smtClean="0"/>
              <a:t>. </a:t>
            </a:r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/>
          </a:p>
          <a:p>
            <a:pPr marL="0" indent="0" rtl="0">
              <a:buNone/>
            </a:pPr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9697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280915"/>
            <a:ext cx="9554361" cy="639046"/>
          </a:xfrm>
        </p:spPr>
        <p:txBody>
          <a:bodyPr rtlCol="0"/>
          <a:lstStyle/>
          <a:p>
            <a:pPr rtl="0"/>
            <a:r>
              <a:rPr lang="ko-KR" altLang="en-US" dirty="0" smtClean="0"/>
              <a:t>행정동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8800" y="1341423"/>
            <a:ext cx="11227732" cy="4354701"/>
          </a:xfrm>
        </p:spPr>
        <p:txBody>
          <a:bodyPr rtlCol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행정동 </a:t>
            </a:r>
            <a:r>
              <a:rPr lang="en-US" altLang="ko-KR" sz="1800" dirty="0" smtClean="0"/>
              <a:t>("</a:t>
            </a:r>
            <a:r>
              <a:rPr lang="ko-KR" altLang="en-US" sz="1800" dirty="0" smtClean="0"/>
              <a:t>행정 편의를 위해 나눈 동네 이름 </a:t>
            </a:r>
            <a:r>
              <a:rPr lang="en-US" altLang="ko-KR" sz="1800" dirty="0" smtClean="0"/>
              <a:t>“)</a:t>
            </a:r>
          </a:p>
          <a:p>
            <a:pPr marL="0" indent="0">
              <a:buNone/>
            </a:pPr>
            <a:r>
              <a:rPr lang="en-US" altLang="ko-KR" sz="1800" dirty="0" smtClean="0"/>
              <a:t>   </a:t>
            </a:r>
            <a:r>
              <a:rPr lang="ko-KR" altLang="en-US" sz="1800" spc="-100" dirty="0" smtClean="0"/>
              <a:t>정의 </a:t>
            </a:r>
            <a:r>
              <a:rPr lang="en-US" altLang="ko-KR" sz="1800" spc="-100" dirty="0" smtClean="0"/>
              <a:t>: </a:t>
            </a:r>
            <a:r>
              <a:rPr lang="ko-KR" altLang="en-US" sz="1800" spc="-100" dirty="0" smtClean="0">
                <a:solidFill>
                  <a:srgbClr val="FF0000"/>
                </a:solidFill>
              </a:rPr>
              <a:t>인구의 증감에 </a:t>
            </a:r>
            <a:r>
              <a:rPr lang="ko-KR" altLang="en-US" sz="1800" spc="-100" dirty="0" smtClean="0"/>
              <a:t>따라 행정 관리를 효율적으로 하기 위해 </a:t>
            </a:r>
            <a:r>
              <a:rPr lang="ko-KR" altLang="en-US" sz="1800" b="1" spc="-100" dirty="0" smtClean="0">
                <a:solidFill>
                  <a:srgbClr val="FF0000"/>
                </a:solidFill>
              </a:rPr>
              <a:t>주민센터</a:t>
            </a:r>
            <a:r>
              <a:rPr lang="en-US" altLang="ko-KR" sz="1800" b="1" spc="-100" dirty="0" smtClean="0">
                <a:solidFill>
                  <a:srgbClr val="FF0000"/>
                </a:solidFill>
              </a:rPr>
              <a:t>(</a:t>
            </a:r>
            <a:r>
              <a:rPr lang="ko-KR" altLang="en-US" sz="1800" b="1" spc="-100" dirty="0" smtClean="0">
                <a:solidFill>
                  <a:srgbClr val="FF0000"/>
                </a:solidFill>
              </a:rPr>
              <a:t>동사무소</a:t>
            </a:r>
            <a:r>
              <a:rPr lang="en-US" altLang="ko-KR" sz="1800" b="1" spc="-100" dirty="0" smtClean="0">
                <a:solidFill>
                  <a:srgbClr val="FF0000"/>
                </a:solidFill>
              </a:rPr>
              <a:t>)</a:t>
            </a:r>
            <a:r>
              <a:rPr lang="en-US" altLang="ko-KR" sz="1800" spc="-100" dirty="0" smtClean="0">
                <a:solidFill>
                  <a:srgbClr val="FF0000"/>
                </a:solidFill>
              </a:rPr>
              <a:t> </a:t>
            </a:r>
            <a:r>
              <a:rPr lang="ko-KR" altLang="en-US" sz="1800" spc="-100" dirty="0" smtClean="0"/>
              <a:t>단위로 나눈 명칭 입니다</a:t>
            </a:r>
            <a:r>
              <a:rPr lang="en-US" altLang="ko-KR" sz="1800" spc="-100" dirty="0" smtClean="0"/>
              <a:t>. </a:t>
            </a:r>
          </a:p>
          <a:p>
            <a:pPr marL="0" indent="0">
              <a:buNone/>
            </a:pPr>
            <a:r>
              <a:rPr lang="en-US" altLang="ko-KR" sz="1800" dirty="0" smtClean="0"/>
              <a:t>   </a:t>
            </a:r>
            <a:r>
              <a:rPr lang="ko-KR" altLang="en-US" sz="1800" dirty="0" smtClean="0"/>
              <a:t>용도 </a:t>
            </a:r>
            <a:r>
              <a:rPr lang="en-US" altLang="ko-KR" sz="1800" dirty="0" smtClean="0"/>
              <a:t>: </a:t>
            </a:r>
          </a:p>
          <a:p>
            <a:pPr marL="0" indent="0">
              <a:buNone/>
            </a:pPr>
            <a:r>
              <a:rPr lang="en-US" altLang="ko-KR" sz="1800" dirty="0" smtClean="0"/>
              <a:t>           </a:t>
            </a:r>
            <a:r>
              <a:rPr lang="ko-KR" altLang="en-US" sz="1800" dirty="0" smtClean="0"/>
              <a:t>공공 서비스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주민센터 운영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쓰레기 수거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선거구 확정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복지 서비스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      </a:t>
            </a:r>
            <a:r>
              <a:rPr lang="ko-KR" altLang="en-US" sz="1800" dirty="0" smtClean="0"/>
              <a:t>관리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인구가 너무 많으면 나누고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분동</a:t>
            </a:r>
            <a:r>
              <a:rPr lang="en-US" altLang="ko-KR" sz="1800" dirty="0" smtClean="0"/>
              <a:t>), </a:t>
            </a:r>
            <a:r>
              <a:rPr lang="ko-KR" altLang="en-US" sz="1800" dirty="0" smtClean="0"/>
              <a:t>너무 적으면 합칩니다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합동</a:t>
            </a:r>
            <a:r>
              <a:rPr lang="en-US" altLang="ko-KR" sz="1800" dirty="0" smtClean="0"/>
              <a:t>) </a:t>
            </a:r>
          </a:p>
          <a:p>
            <a:pPr marL="0" indent="0">
              <a:buNone/>
            </a:pPr>
            <a:r>
              <a:rPr lang="en-US" altLang="ko-KR" sz="1800" dirty="0" smtClean="0"/>
              <a:t>   </a:t>
            </a:r>
            <a:r>
              <a:rPr lang="ko-KR" altLang="en-US" sz="1800" dirty="0" smtClean="0"/>
              <a:t>특징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시대에 따라 이름이 자주 바뀌거나 </a:t>
            </a:r>
            <a:r>
              <a:rPr lang="en-US" altLang="ko-KR" sz="1800" dirty="0" smtClean="0"/>
              <a:t>‘</a:t>
            </a:r>
            <a:r>
              <a:rPr lang="ko-KR" altLang="en-US" sz="1800" dirty="0" smtClean="0"/>
              <a:t>신림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동</a:t>
            </a:r>
            <a:r>
              <a:rPr lang="en-US" altLang="ko-KR" sz="1800" dirty="0" smtClean="0"/>
              <a:t>, 2</a:t>
            </a:r>
            <a:r>
              <a:rPr lang="ko-KR" altLang="en-US" sz="1800" dirty="0" smtClean="0"/>
              <a:t>동</a:t>
            </a:r>
            <a:r>
              <a:rPr lang="en-US" altLang="ko-KR" sz="1800" dirty="0" smtClean="0"/>
              <a:t>＇</a:t>
            </a:r>
            <a:r>
              <a:rPr lang="ko-KR" altLang="en-US" sz="1800" dirty="0" smtClean="0"/>
              <a:t>처럼 숫자가 붙는 경우가 많습니다</a:t>
            </a:r>
            <a:r>
              <a:rPr lang="en-US" altLang="ko-KR" sz="1800" dirty="0" smtClean="0"/>
              <a:t>.  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 smtClean="0"/>
              <a:t>요약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집을 </a:t>
            </a:r>
            <a:r>
              <a:rPr lang="ko-KR" altLang="en-US" sz="1800" dirty="0" smtClean="0"/>
              <a:t>사고 팔거나 </a:t>
            </a:r>
            <a:r>
              <a:rPr lang="ko-KR" altLang="en-US" sz="1800" dirty="0"/>
              <a:t>주소를 적을 때는 </a:t>
            </a:r>
            <a:r>
              <a:rPr lang="ko-KR" altLang="en-US" sz="1800" b="1" dirty="0" err="1"/>
              <a:t>법정동</a:t>
            </a:r>
            <a:r>
              <a:rPr lang="ko-KR" altLang="en-US" sz="1800" dirty="0" err="1"/>
              <a:t>을</a:t>
            </a:r>
            <a:r>
              <a:rPr lang="ko-KR" altLang="en-US" sz="1800" dirty="0"/>
              <a:t> 확인해야 하고</a:t>
            </a:r>
            <a:r>
              <a:rPr lang="en-US" altLang="ko-KR" sz="1800" dirty="0"/>
              <a:t>,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   </a:t>
            </a:r>
            <a:r>
              <a:rPr lang="ko-KR" altLang="en-US" sz="1800" dirty="0" smtClean="0"/>
              <a:t>전입신고를 </a:t>
            </a:r>
            <a:r>
              <a:rPr lang="ko-KR" altLang="en-US" sz="1800" dirty="0"/>
              <a:t>하거나 민원 서류를 떼러 갈 때는 내 집이 속한 </a:t>
            </a:r>
            <a:r>
              <a:rPr lang="ko-KR" altLang="en-US" sz="1800" b="1" dirty="0"/>
              <a:t>행정동</a:t>
            </a:r>
            <a:r>
              <a:rPr lang="ko-KR" altLang="en-US" sz="1800" dirty="0"/>
              <a:t> 주민센터를 찾아가야 합니다</a:t>
            </a:r>
            <a:r>
              <a:rPr lang="en-US" altLang="ko-KR" sz="1800" dirty="0"/>
              <a:t>.</a:t>
            </a: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/>
          </a:p>
          <a:p>
            <a:pPr marL="0" indent="0" rtl="0">
              <a:buNone/>
            </a:pPr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3487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280915"/>
            <a:ext cx="9554361" cy="639046"/>
          </a:xfrm>
        </p:spPr>
        <p:txBody>
          <a:bodyPr rtlCol="0"/>
          <a:lstStyle/>
          <a:p>
            <a:pPr rtl="0"/>
            <a:r>
              <a:rPr lang="ko-KR" altLang="en-US" dirty="0" smtClean="0"/>
              <a:t>주소 정제 </a:t>
            </a:r>
            <a:r>
              <a:rPr lang="en-US" altLang="ko-KR" dirty="0" smtClean="0"/>
              <a:t>API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8800" y="1282700"/>
            <a:ext cx="11227732" cy="4602993"/>
          </a:xfrm>
        </p:spPr>
        <p:txBody>
          <a:bodyPr rtlCol="0">
            <a:normAutofit/>
          </a:bodyPr>
          <a:lstStyle/>
          <a:p>
            <a:pPr rtl="0"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주소 </a:t>
            </a:r>
            <a:r>
              <a:rPr lang="ko-KR" altLang="en-US" sz="1800" dirty="0" err="1" smtClean="0"/>
              <a:t>정제란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? </a:t>
            </a:r>
          </a:p>
          <a:p>
            <a:pPr marL="0" indent="0" rtl="0">
              <a:buNone/>
            </a:pPr>
            <a:r>
              <a:rPr lang="ko-KR" altLang="en-US" sz="1800" spc="-100" dirty="0" smtClean="0"/>
              <a:t>지오 코딩을 수행하기 전 사용자가 입력한 불완전한 주소 문자열을 표준화된 형태로 교정하는 전처리 작업 </a:t>
            </a:r>
            <a:endParaRPr lang="en-US" altLang="ko-KR" sz="1800" spc="-100" dirty="0" smtClean="0"/>
          </a:p>
          <a:p>
            <a:pPr marL="0" indent="0" rtl="0">
              <a:buNone/>
            </a:pPr>
            <a:r>
              <a:rPr lang="ko-KR" altLang="en-US" sz="1600" dirty="0" smtClean="0"/>
              <a:t>왜 필요한가</a:t>
            </a:r>
            <a:r>
              <a:rPr lang="en-US" altLang="ko-KR" sz="1600" dirty="0" smtClean="0"/>
              <a:t>? </a:t>
            </a:r>
            <a:r>
              <a:rPr lang="ko-KR" altLang="en-US" sz="1600" dirty="0" smtClean="0"/>
              <a:t>오타 및 누락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중구 서소문동 </a:t>
            </a:r>
            <a:r>
              <a:rPr lang="en-US" altLang="ko-KR" sz="1600" dirty="0" smtClean="0"/>
              <a:t>37(</a:t>
            </a:r>
            <a:r>
              <a:rPr lang="ko-KR" altLang="en-US" sz="1600" dirty="0" smtClean="0"/>
              <a:t>시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도 누락</a:t>
            </a:r>
            <a:r>
              <a:rPr lang="en-US" altLang="ko-KR" sz="1600" dirty="0" smtClean="0"/>
              <a:t>) </a:t>
            </a:r>
          </a:p>
          <a:p>
            <a:pPr marL="0" indent="0" rtl="0">
              <a:buNone/>
            </a:pPr>
            <a:r>
              <a:rPr lang="ko-KR" altLang="en-US" sz="1600" dirty="0" smtClean="0"/>
              <a:t>지번 주소와 도로 명 주소의 혼용</a:t>
            </a:r>
            <a:endParaRPr lang="en-US" altLang="ko-KR" sz="16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rtl="0"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Geocoding (</a:t>
            </a:r>
            <a:r>
              <a:rPr lang="ko-KR" altLang="en-US" sz="1800" dirty="0" smtClean="0"/>
              <a:t>주소</a:t>
            </a:r>
            <a:r>
              <a:rPr lang="en-US" altLang="ko-KR" sz="1800" dirty="0" smtClean="0"/>
              <a:t>-&gt;</a:t>
            </a:r>
            <a:r>
              <a:rPr lang="ko-KR" altLang="en-US" sz="1800" dirty="0" smtClean="0"/>
              <a:t>좌표</a:t>
            </a:r>
            <a:r>
              <a:rPr lang="en-US" altLang="ko-KR" sz="1800" dirty="0" smtClean="0"/>
              <a:t>) </a:t>
            </a:r>
            <a:r>
              <a:rPr lang="ko-KR" altLang="en-US" sz="1800" dirty="0" smtClean="0"/>
              <a:t>주소 문자열을 입력하면 </a:t>
            </a:r>
            <a:r>
              <a:rPr lang="en-US" altLang="ko-KR" sz="1800" dirty="0" smtClean="0"/>
              <a:t>X, Y </a:t>
            </a:r>
            <a:r>
              <a:rPr lang="ko-KR" altLang="en-US" sz="1800" dirty="0" smtClean="0"/>
              <a:t>좌표를 반환</a:t>
            </a:r>
            <a:endParaRPr lang="en-US" altLang="ko-KR" sz="1800" dirty="0" smtClean="0"/>
          </a:p>
          <a:p>
            <a:pPr rtl="0"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Reverse Geocoding(</a:t>
            </a:r>
            <a:r>
              <a:rPr lang="ko-KR" altLang="en-US" sz="1800" dirty="0" smtClean="0"/>
              <a:t>좌표</a:t>
            </a:r>
            <a:r>
              <a:rPr lang="en-US" altLang="ko-KR" sz="1800" dirty="0" smtClean="0"/>
              <a:t>-&gt;</a:t>
            </a:r>
            <a:r>
              <a:rPr lang="ko-KR" altLang="en-US" sz="1800" dirty="0" smtClean="0"/>
              <a:t>주소</a:t>
            </a:r>
            <a:r>
              <a:rPr lang="en-US" altLang="ko-KR" sz="1800" dirty="0" smtClean="0"/>
              <a:t>) X, </a:t>
            </a:r>
            <a:r>
              <a:rPr lang="en-US" altLang="ko-KR" sz="1800" dirty="0"/>
              <a:t>Y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좌표를 입력하면 해당 지점의 주소를 반환</a:t>
            </a:r>
            <a:endParaRPr lang="en-US" altLang="ko-KR" sz="1800" dirty="0" smtClean="0"/>
          </a:p>
          <a:p>
            <a:pPr rtl="0">
              <a:buFont typeface="Wingdings" panose="05000000000000000000" pitchFamily="2" charset="2"/>
              <a:buChar char="§"/>
            </a:pPr>
            <a:r>
              <a:rPr lang="ko-KR" altLang="en-US" sz="1800" dirty="0" err="1" smtClean="0"/>
              <a:t>도로명</a:t>
            </a:r>
            <a:r>
              <a:rPr lang="ko-KR" altLang="en-US" sz="1800" dirty="0" smtClean="0"/>
              <a:t> 주소 검색 키워드를 통해 정확한 도로 명 주소 리스트를 반환</a:t>
            </a: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/>
          </a:p>
          <a:p>
            <a:pPr marL="0" indent="0" rtl="0">
              <a:buNone/>
            </a:pPr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0933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280915"/>
            <a:ext cx="9554361" cy="639046"/>
          </a:xfrm>
        </p:spPr>
        <p:txBody>
          <a:bodyPr rtlCol="0"/>
          <a:lstStyle/>
          <a:p>
            <a:pPr rtl="0"/>
            <a:r>
              <a:rPr lang="ko-KR" altLang="en-US" dirty="0" err="1" smtClean="0"/>
              <a:t>주소정제</a:t>
            </a:r>
            <a:r>
              <a:rPr lang="ko-KR" altLang="en-US" dirty="0" smtClean="0"/>
              <a:t> 데이터베이스 갱신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18852" y="1022020"/>
            <a:ext cx="4839830" cy="1202454"/>
          </a:xfrm>
        </p:spPr>
        <p:txBody>
          <a:bodyPr rtlCol="0">
            <a:normAutofit fontScale="92500" lnSpcReduction="10000"/>
          </a:bodyPr>
          <a:lstStyle/>
          <a:p>
            <a:pPr marL="0" indent="0" rtl="0">
              <a:buNone/>
            </a:pPr>
            <a:endParaRPr lang="en-US" altLang="ko-KR" sz="1800" dirty="0" smtClean="0"/>
          </a:p>
          <a:p>
            <a:pPr marL="342900" indent="-342900">
              <a:buAutoNum type="arabicPeriod"/>
            </a:pPr>
            <a:r>
              <a:rPr lang="ko-KR" altLang="en-US" sz="1800" dirty="0" smtClean="0"/>
              <a:t>원본 데이터 취득 </a:t>
            </a:r>
            <a:r>
              <a:rPr lang="en-US" altLang="ko-KR" sz="1800" dirty="0"/>
              <a:t>(</a:t>
            </a:r>
            <a:r>
              <a:rPr lang="en-US" altLang="ko-KR" sz="1800" dirty="0">
                <a:hlinkClick r:id="rId3"/>
              </a:rPr>
              <a:t>https://</a:t>
            </a:r>
            <a:r>
              <a:rPr lang="en-US" altLang="ko-KR" sz="1800" dirty="0" smtClean="0">
                <a:hlinkClick r:id="rId3"/>
              </a:rPr>
              <a:t>www.juso.go.kr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 csv </a:t>
            </a:r>
            <a:r>
              <a:rPr lang="ko-KR" altLang="en-US" sz="1800" dirty="0" smtClean="0"/>
              <a:t>형식 데이터를 </a:t>
            </a:r>
            <a:r>
              <a:rPr lang="en-US" altLang="ko-KR" sz="1800" dirty="0" smtClean="0"/>
              <a:t>PostgreSQL DB</a:t>
            </a:r>
            <a:r>
              <a:rPr lang="ko-KR" altLang="en-US" sz="1800" dirty="0" smtClean="0"/>
              <a:t>에 </a:t>
            </a:r>
            <a:r>
              <a:rPr lang="en-US" altLang="ko-KR" sz="1800" dirty="0" smtClean="0"/>
              <a:t>insert</a:t>
            </a:r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  <p:sp>
        <p:nvSpPr>
          <p:cNvPr id="4" name="오른쪽 화살표 3"/>
          <p:cNvSpPr/>
          <p:nvPr/>
        </p:nvSpPr>
        <p:spPr>
          <a:xfrm rot="5400000">
            <a:off x="3859517" y="2540454"/>
            <a:ext cx="654341" cy="696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02124" y="3082934"/>
            <a:ext cx="8505273" cy="2360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179388" algn="l" defTabSz="914400" rtl="0" eaLnBrk="1" latinLnBrk="1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914400" indent="-182880" algn="l" defTabSz="914400" rtl="0" eaLnBrk="1" latinLnBrk="1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143000" indent="-17938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1371600" indent="-18288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altLang="ko-KR" sz="1800" dirty="0" smtClean="0"/>
          </a:p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2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데이터 가공</a:t>
            </a:r>
            <a:endParaRPr lang="en-US" altLang="ko-KR" sz="1800" dirty="0" smtClean="0"/>
          </a:p>
          <a:p>
            <a:pPr marL="0" indent="0">
              <a:buFont typeface="Arial" pitchFamily="34" charset="0"/>
              <a:buNone/>
            </a:pPr>
            <a:r>
              <a:rPr lang="ko-KR" altLang="en-US" sz="1800" dirty="0" smtClean="0"/>
              <a:t>가공에 필요한 테이블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인덱스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당월에 없는 과거 주소 인계</a:t>
            </a:r>
            <a:endParaRPr lang="en-US" altLang="ko-KR" sz="1800" dirty="0" smtClean="0"/>
          </a:p>
          <a:p>
            <a:pPr marL="0" indent="0">
              <a:buFont typeface="Arial" pitchFamily="34" charset="0"/>
              <a:buNone/>
            </a:pPr>
            <a:r>
              <a:rPr lang="ko-KR" altLang="en-US" sz="1800" dirty="0" smtClean="0"/>
              <a:t>행정구역 코드 생성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도로명</a:t>
            </a:r>
            <a:r>
              <a:rPr lang="en-US" altLang="ko-KR" sz="1800" dirty="0" smtClean="0"/>
              <a:t>/</a:t>
            </a:r>
            <a:r>
              <a:rPr lang="ko-KR" altLang="en-US" sz="1800" dirty="0" smtClean="0"/>
              <a:t>지번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행정구역 코드 데이터 백업 및 복원 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 </a:t>
            </a:r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pPr marL="0" indent="0">
              <a:buFont typeface="Arial" pitchFamily="34" charset="0"/>
              <a:buNone/>
            </a:pPr>
            <a:endParaRPr lang="ko-KR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7415868" y="687897"/>
            <a:ext cx="4261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주소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지적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사물주소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기초구역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건물군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기초구간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국가지점번호 </a:t>
            </a:r>
            <a:r>
              <a:rPr lang="en-US" altLang="ko-KR" dirty="0" smtClean="0"/>
              <a:t>100m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299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/>
          <a:lstStyle/>
          <a:p>
            <a:pPr rtl="0"/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호출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108" y="1350512"/>
            <a:ext cx="10914077" cy="4738381"/>
          </a:xfrm>
        </p:spPr>
        <p:txBody>
          <a:bodyPr rtlCol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BASE URL (</a:t>
            </a:r>
            <a:r>
              <a:rPr lang="ko-KR" altLang="en-US" sz="1800" dirty="0" smtClean="0"/>
              <a:t>기본 주소</a:t>
            </a:r>
            <a:r>
              <a:rPr lang="en-US" altLang="ko-KR" sz="1800" dirty="0" smtClean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[https</a:t>
            </a:r>
            <a:r>
              <a:rPr lang="en-US" altLang="ko-KR" sz="1800" dirty="0"/>
              <a:t>://map.seoul.go.kr/openapi/v5</a:t>
            </a:r>
            <a:r>
              <a:rPr lang="en-US" altLang="ko-KR" sz="1800" dirty="0" smtClean="0"/>
              <a:t>/](</a:t>
            </a:r>
            <a:r>
              <a:rPr lang="en-US" altLang="ko-KR" sz="1800" dirty="0">
                <a:hlinkClick r:id="rId3"/>
              </a:rPr>
              <a:t>https://map.seoul.go.kr/openapi/v5</a:t>
            </a:r>
            <a:r>
              <a:rPr lang="en-US" altLang="ko-KR" sz="1800" dirty="0" smtClean="0">
                <a:hlinkClick r:id="rId3"/>
              </a:rPr>
              <a:t>/</a:t>
            </a:r>
            <a:r>
              <a:rPr lang="en-US" altLang="ko-KR" sz="1800" dirty="0" smtClean="0"/>
              <a:t>)</a:t>
            </a:r>
          </a:p>
          <a:p>
            <a:pPr marL="0" indent="0">
              <a:buNone/>
            </a:pPr>
            <a:r>
              <a:rPr lang="en-US" altLang="ko-KR" sz="1800" dirty="0" smtClean="0"/>
              <a:t>    {API_KEY}</a:t>
            </a:r>
          </a:p>
          <a:p>
            <a:pPr marL="0" indent="0">
              <a:buNone/>
            </a:pPr>
            <a:r>
              <a:rPr lang="ko-KR" altLang="en-US" sz="1800" dirty="0" smtClean="0"/>
              <a:t>  모든 </a:t>
            </a:r>
            <a:r>
              <a:rPr lang="en-US" altLang="ko-KR" sz="1800" dirty="0"/>
              <a:t>API </a:t>
            </a:r>
            <a:r>
              <a:rPr lang="ko-KR" altLang="en-US" sz="1800" dirty="0"/>
              <a:t>호출은 위 </a:t>
            </a:r>
            <a:r>
              <a:rPr lang="en-US" altLang="ko-KR" sz="1800" dirty="0"/>
              <a:t>Base URL </a:t>
            </a:r>
            <a:r>
              <a:rPr lang="ko-KR" altLang="en-US" sz="1800" dirty="0"/>
              <a:t>뒤에 각 기능별 </a:t>
            </a:r>
            <a:r>
              <a:rPr lang="en-US" altLang="ko-KR" sz="1800" dirty="0"/>
              <a:t>Endpoint</a:t>
            </a:r>
            <a:r>
              <a:rPr lang="ko-KR" altLang="en-US" sz="1800" dirty="0"/>
              <a:t>를 연결하여 사용합니다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</a:t>
            </a:r>
            <a:r>
              <a:rPr lang="en-US" altLang="ko-KR" sz="1800" dirty="0" smtClean="0"/>
              <a:t>ex : </a:t>
            </a:r>
            <a:r>
              <a:rPr lang="en-US" altLang="ko-KR" dirty="0" smtClean="0"/>
              <a:t>https</a:t>
            </a:r>
            <a:r>
              <a:rPr lang="en-US" altLang="ko-KR" dirty="0"/>
              <a:t>://map.seoul.go.kr/openapi/v5/${apiKey}/</a:t>
            </a:r>
            <a:r>
              <a:rPr lang="en-US" altLang="ko-KR" dirty="0" smtClean="0"/>
              <a:t>public/geocoding/foward</a:t>
            </a:r>
            <a:endParaRPr lang="en-US" altLang="ko-KR" dirty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 smtClean="0"/>
              <a:t>기본 통신 규격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smtClean="0"/>
              <a:t>  </a:t>
            </a:r>
            <a:r>
              <a:rPr lang="ko-KR" altLang="en-US" sz="1800" dirty="0" smtClean="0"/>
              <a:t>통신 방식 </a:t>
            </a:r>
            <a:r>
              <a:rPr lang="en-US" altLang="ko-KR" sz="1800" dirty="0" smtClean="0"/>
              <a:t>: HTTP GET(</a:t>
            </a:r>
            <a:r>
              <a:rPr lang="ko-KR" altLang="en-US" sz="1800" dirty="0" smtClean="0"/>
              <a:t>비동기 </a:t>
            </a:r>
            <a:r>
              <a:rPr lang="en-US" altLang="ko-KR" sz="1800" dirty="0" smtClean="0"/>
              <a:t>fetch </a:t>
            </a:r>
            <a:r>
              <a:rPr lang="ko-KR" altLang="en-US" sz="1800" dirty="0" smtClean="0"/>
              <a:t>방식 권장</a:t>
            </a:r>
            <a:r>
              <a:rPr lang="en-US" altLang="ko-KR" sz="1800" dirty="0" smtClean="0"/>
              <a:t>)</a:t>
            </a:r>
          </a:p>
          <a:p>
            <a:pPr marL="0" indent="0">
              <a:buNone/>
            </a:pPr>
            <a:r>
              <a:rPr lang="en-US" altLang="ko-KR" sz="1800" dirty="0" smtClean="0"/>
              <a:t>  </a:t>
            </a:r>
            <a:r>
              <a:rPr lang="ko-KR" altLang="en-US" sz="1800" dirty="0" smtClean="0"/>
              <a:t>응답 형식 </a:t>
            </a:r>
            <a:r>
              <a:rPr lang="en-US" altLang="ko-KR" sz="1800" dirty="0" smtClean="0"/>
              <a:t>: JSON (application/</a:t>
            </a:r>
            <a:r>
              <a:rPr lang="en-US" altLang="ko-KR" sz="1800" dirty="0" err="1" smtClean="0"/>
              <a:t>json</a:t>
            </a:r>
            <a:r>
              <a:rPr lang="en-US" altLang="ko-KR" sz="1800" dirty="0" smtClean="0"/>
              <a:t>)</a:t>
            </a:r>
          </a:p>
          <a:p>
            <a:pPr marL="0" indent="0">
              <a:buNone/>
            </a:pPr>
            <a:r>
              <a:rPr lang="en-US" altLang="ko-KR" sz="1800" dirty="0" smtClean="0"/>
              <a:t>  </a:t>
            </a:r>
            <a:r>
              <a:rPr lang="ko-KR" altLang="en-US" sz="1800" dirty="0" smtClean="0"/>
              <a:t>인증 방식 </a:t>
            </a:r>
            <a:r>
              <a:rPr lang="en-US" altLang="ko-KR" sz="1800" dirty="0" smtClean="0"/>
              <a:t>: URL</a:t>
            </a:r>
            <a:r>
              <a:rPr lang="ko-KR" altLang="en-US" sz="1800" dirty="0" smtClean="0"/>
              <a:t>경로 내에 </a:t>
            </a:r>
            <a:r>
              <a:rPr lang="en-US" altLang="ko-KR" sz="1800" dirty="0" smtClean="0"/>
              <a:t>API Key </a:t>
            </a:r>
            <a:r>
              <a:rPr lang="ko-KR" altLang="en-US" sz="1800" dirty="0" smtClean="0"/>
              <a:t>포함 </a:t>
            </a:r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8282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9508" y="199591"/>
            <a:ext cx="9554361" cy="639046"/>
          </a:xfrm>
        </p:spPr>
        <p:txBody>
          <a:bodyPr rtlCol="0"/>
          <a:lstStyle/>
          <a:p>
            <a:r>
              <a:rPr lang="ko-KR" altLang="en-US" dirty="0"/>
              <a:t>주소 정제 </a:t>
            </a:r>
            <a:r>
              <a:rPr lang="en-US" altLang="ko-KR" dirty="0"/>
              <a:t>(Geocoding) : </a:t>
            </a:r>
            <a:r>
              <a:rPr lang="ko-KR" altLang="en-US" dirty="0"/>
              <a:t>주소 </a:t>
            </a:r>
            <a:r>
              <a:rPr lang="en-US" altLang="ko-KR" dirty="0"/>
              <a:t>-&gt; </a:t>
            </a:r>
            <a:r>
              <a:rPr lang="ko-KR" altLang="en-US" dirty="0"/>
              <a:t>좌표 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9508" y="1096512"/>
            <a:ext cx="10914077" cy="4618488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dirty="0" smtClean="0"/>
              <a:t>목적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텍스트 형태의 주소를 지도상의 위경도 </a:t>
            </a:r>
            <a:r>
              <a:rPr lang="en-US" altLang="ko-KR" sz="1400" dirty="0" smtClean="0"/>
              <a:t>(X, Y) </a:t>
            </a:r>
            <a:r>
              <a:rPr lang="ko-KR" altLang="en-US" sz="1400" dirty="0" smtClean="0"/>
              <a:t>좌표로 반환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ko-KR" altLang="en-US" sz="1400" dirty="0" smtClean="0"/>
              <a:t>경로 </a:t>
            </a:r>
            <a:r>
              <a:rPr lang="en-US" altLang="ko-KR" sz="1400" dirty="0"/>
              <a:t>: /public/geocoding/</a:t>
            </a:r>
            <a:r>
              <a:rPr lang="en-US" altLang="ko-KR" sz="1400" dirty="0" err="1">
                <a:solidFill>
                  <a:srgbClr val="FF0000"/>
                </a:solidFill>
              </a:rPr>
              <a:t>foward</a:t>
            </a:r>
            <a:r>
              <a:rPr lang="en-US" altLang="ko-KR" sz="1400" dirty="0" smtClean="0"/>
              <a:t>  </a:t>
            </a:r>
          </a:p>
          <a:p>
            <a:pPr marL="0" indent="0">
              <a:buNone/>
            </a:pPr>
            <a:r>
              <a:rPr lang="ko-KR" altLang="en-US" sz="1400" dirty="0" smtClean="0"/>
              <a:t>주요 </a:t>
            </a:r>
            <a:r>
              <a:rPr lang="ko-KR" altLang="en-US" sz="1400" dirty="0" err="1" smtClean="0"/>
              <a:t>파라미터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(Request) 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ex : https://map.seoul.go.kr/openapi/v5/" + </a:t>
            </a:r>
            <a:r>
              <a:rPr lang="en-US" altLang="ko-KR" sz="1400" dirty="0" smtClean="0">
                <a:solidFill>
                  <a:srgbClr val="FF0000"/>
                </a:solidFill>
              </a:rPr>
              <a:t>API_KEY </a:t>
            </a:r>
            <a:r>
              <a:rPr lang="en-US" altLang="ko-KR" sz="1400" dirty="0">
                <a:solidFill>
                  <a:srgbClr val="FF0000"/>
                </a:solidFill>
              </a:rPr>
              <a:t>+ "/</a:t>
            </a:r>
            <a:r>
              <a:rPr lang="en-US" altLang="ko-KR" sz="1400" dirty="0" smtClean="0">
                <a:solidFill>
                  <a:srgbClr val="FF0000"/>
                </a:solidFill>
              </a:rPr>
              <a:t>public/geocoding/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foward</a:t>
            </a:r>
            <a:r>
              <a:rPr lang="en-US" altLang="ko-KR" sz="1400" dirty="0">
                <a:solidFill>
                  <a:srgbClr val="FF0000"/>
                </a:solidFill>
              </a:rPr>
              <a:t>+ "?</a:t>
            </a:r>
            <a:r>
              <a:rPr lang="en-US" altLang="ko-KR" sz="1400" dirty="0" err="1">
                <a:solidFill>
                  <a:srgbClr val="FF0000"/>
                </a:solidFill>
              </a:rPr>
              <a:t>full_address</a:t>
            </a:r>
            <a:r>
              <a:rPr lang="en-US" altLang="ko-KR" sz="1400" dirty="0">
                <a:solidFill>
                  <a:srgbClr val="FF0000"/>
                </a:solidFill>
              </a:rPr>
              <a:t>=" + </a:t>
            </a:r>
            <a:r>
              <a:rPr lang="en-US" altLang="ko-KR" sz="1400" dirty="0" err="1">
                <a:solidFill>
                  <a:srgbClr val="FF0000"/>
                </a:solidFill>
              </a:rPr>
              <a:t>encodeURIComponent</a:t>
            </a:r>
            <a:r>
              <a:rPr lang="en-US" altLang="ko-KR" sz="1400" dirty="0">
                <a:solidFill>
                  <a:srgbClr val="FF0000"/>
                </a:solidFill>
              </a:rPr>
              <a:t>(address) </a:t>
            </a:r>
          </a:p>
          <a:p>
            <a:pPr marL="0" indent="0">
              <a:buNone/>
            </a:pPr>
            <a:r>
              <a:rPr lang="en-US" altLang="ko-KR" sz="1400" dirty="0" smtClean="0">
                <a:solidFill>
                  <a:srgbClr val="FF0000"/>
                </a:solidFill>
              </a:rPr>
              <a:t>+ </a:t>
            </a:r>
            <a:r>
              <a:rPr lang="en-US" altLang="ko-KR" sz="1400" dirty="0">
                <a:solidFill>
                  <a:srgbClr val="FF0000"/>
                </a:solidFill>
              </a:rPr>
              <a:t>"&amp;</a:t>
            </a:r>
            <a:r>
              <a:rPr lang="en-US" altLang="ko-KR" sz="1400" dirty="0" err="1">
                <a:solidFill>
                  <a:srgbClr val="FF0000"/>
                </a:solidFill>
              </a:rPr>
              <a:t>address_type</a:t>
            </a:r>
            <a:r>
              <a:rPr lang="en-US" altLang="ko-KR" sz="1400" dirty="0">
                <a:solidFill>
                  <a:srgbClr val="FF0000"/>
                </a:solidFill>
              </a:rPr>
              <a:t>=" + type </a:t>
            </a:r>
            <a:r>
              <a:rPr lang="en-US" altLang="ko-KR" sz="1400" dirty="0" smtClean="0">
                <a:solidFill>
                  <a:srgbClr val="FF0000"/>
                </a:solidFill>
              </a:rPr>
              <a:t>+ </a:t>
            </a:r>
            <a:r>
              <a:rPr lang="en-US" altLang="ko-KR" sz="1400" dirty="0">
                <a:solidFill>
                  <a:srgbClr val="FF0000"/>
                </a:solidFill>
              </a:rPr>
              <a:t>"&amp;</a:t>
            </a:r>
            <a:r>
              <a:rPr lang="en-US" altLang="ko-KR" sz="1400" dirty="0" err="1">
                <a:solidFill>
                  <a:srgbClr val="FF0000"/>
                </a:solidFill>
              </a:rPr>
              <a:t>req_lang</a:t>
            </a:r>
            <a:r>
              <a:rPr lang="en-US" altLang="ko-KR" sz="1400" dirty="0">
                <a:solidFill>
                  <a:srgbClr val="FF0000"/>
                </a:solidFill>
              </a:rPr>
              <a:t>=</a:t>
            </a:r>
            <a:r>
              <a:rPr lang="en-US" altLang="ko-KR" sz="1400" dirty="0" err="1">
                <a:solidFill>
                  <a:srgbClr val="FF0000"/>
                </a:solidFill>
              </a:rPr>
              <a:t>KOR&amp;res_lang</a:t>
            </a:r>
            <a:r>
              <a:rPr lang="en-US" altLang="ko-KR" sz="1400" dirty="0">
                <a:solidFill>
                  <a:srgbClr val="FF0000"/>
                </a:solidFill>
              </a:rPr>
              <a:t>=KOR";</a:t>
            </a:r>
          </a:p>
          <a:p>
            <a:pPr marL="0" indent="0">
              <a:buNone/>
            </a:pP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en-US" altLang="ko-KR" sz="1800" dirty="0" smtClean="0"/>
          </a:p>
          <a:p>
            <a:pPr marL="0" indent="0" rtl="0">
              <a:buNone/>
            </a:pPr>
            <a:r>
              <a:rPr lang="ko-KR" altLang="en-US" sz="1300" dirty="0" smtClean="0"/>
              <a:t>흐름 </a:t>
            </a:r>
            <a:r>
              <a:rPr lang="en-US" altLang="ko-KR" sz="1300" dirty="0" smtClean="0"/>
              <a:t>: </a:t>
            </a:r>
            <a:r>
              <a:rPr lang="ko-KR" altLang="en-US" sz="1300" dirty="0" smtClean="0"/>
              <a:t>입력 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텍스트 주소</a:t>
            </a:r>
            <a:r>
              <a:rPr lang="en-US" altLang="ko-KR" sz="1300" dirty="0" smtClean="0"/>
              <a:t>) -&gt; API</a:t>
            </a:r>
            <a:r>
              <a:rPr lang="ko-KR" altLang="en-US" sz="1300" dirty="0" smtClean="0"/>
              <a:t>처리 </a:t>
            </a:r>
            <a:r>
              <a:rPr lang="en-US" altLang="ko-KR" sz="1300" dirty="0" smtClean="0"/>
              <a:t>-&gt; </a:t>
            </a:r>
            <a:r>
              <a:rPr lang="ko-KR" altLang="en-US" sz="1300" dirty="0" smtClean="0"/>
              <a:t>출력 </a:t>
            </a:r>
            <a:r>
              <a:rPr lang="en-US" altLang="ko-KR" sz="1300" dirty="0" smtClean="0"/>
              <a:t>(X, Y </a:t>
            </a:r>
            <a:r>
              <a:rPr lang="ko-KR" altLang="en-US" sz="1300" dirty="0" smtClean="0"/>
              <a:t>좌표 값</a:t>
            </a:r>
            <a:r>
              <a:rPr lang="en-US" altLang="ko-KR" sz="1300" dirty="0" smtClean="0"/>
              <a:t>) </a:t>
            </a:r>
            <a:endParaRPr lang="ko-KR" altLang="en-US" sz="1300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532726"/>
              </p:ext>
            </p:extLst>
          </p:nvPr>
        </p:nvGraphicFramePr>
        <p:xfrm>
          <a:off x="897853" y="3024952"/>
          <a:ext cx="9830967" cy="1919290"/>
        </p:xfrm>
        <a:graphic>
          <a:graphicData uri="http://schemas.openxmlformats.org/drawingml/2006/table">
            <a:tbl>
              <a:tblPr/>
              <a:tblGrid>
                <a:gridCol w="1709734">
                  <a:extLst>
                    <a:ext uri="{9D8B030D-6E8A-4147-A177-3AD203B41FA5}">
                      <a16:colId xmlns:a16="http://schemas.microsoft.com/office/drawing/2014/main" val="20496277"/>
                    </a:ext>
                  </a:extLst>
                </a:gridCol>
                <a:gridCol w="961726">
                  <a:extLst>
                    <a:ext uri="{9D8B030D-6E8A-4147-A177-3AD203B41FA5}">
                      <a16:colId xmlns:a16="http://schemas.microsoft.com/office/drawing/2014/main" val="2062526964"/>
                    </a:ext>
                  </a:extLst>
                </a:gridCol>
                <a:gridCol w="1015154">
                  <a:extLst>
                    <a:ext uri="{9D8B030D-6E8A-4147-A177-3AD203B41FA5}">
                      <a16:colId xmlns:a16="http://schemas.microsoft.com/office/drawing/2014/main" val="3641843947"/>
                    </a:ext>
                  </a:extLst>
                </a:gridCol>
                <a:gridCol w="6144353">
                  <a:extLst>
                    <a:ext uri="{9D8B030D-6E8A-4147-A177-3AD203B41FA5}">
                      <a16:colId xmlns:a16="http://schemas.microsoft.com/office/drawing/2014/main" val="2512347490"/>
                    </a:ext>
                  </a:extLst>
                </a:gridCol>
              </a:tblGrid>
              <a:tr h="3838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파라미터명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456901"/>
                  </a:ext>
                </a:extLst>
              </a:tr>
              <a:tr h="383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full_address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검색할 전체 주소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(※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encodeURIComponent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인코딩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필수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입력한 주소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633822"/>
                  </a:ext>
                </a:extLst>
              </a:tr>
              <a:tr h="383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address_type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 타입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도로명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 구분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125995"/>
                  </a:ext>
                </a:extLst>
              </a:tr>
              <a:tr h="383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req_lang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언어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89774"/>
                  </a:ext>
                </a:extLst>
              </a:tr>
              <a:tr h="383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res_lang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 언어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21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9508" y="199591"/>
            <a:ext cx="9554361" cy="639046"/>
          </a:xfrm>
        </p:spPr>
        <p:txBody>
          <a:bodyPr rtlCol="0"/>
          <a:lstStyle/>
          <a:p>
            <a:r>
              <a:rPr lang="ko-KR" altLang="en-US" dirty="0"/>
              <a:t>주소 정제 </a:t>
            </a:r>
            <a:r>
              <a:rPr lang="en-US" altLang="ko-KR" dirty="0" smtClean="0"/>
              <a:t>(Reverse Geocoding) : </a:t>
            </a:r>
            <a:r>
              <a:rPr lang="ko-KR" altLang="en-US" dirty="0" smtClean="0"/>
              <a:t>좌표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주소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9508" y="1210812"/>
            <a:ext cx="10914077" cy="4618488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ko-KR" altLang="en-US" sz="1200" dirty="0" smtClean="0"/>
              <a:t>목적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지도 위 특정 지점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좌표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을 클릭 했을 때 해당 위치의 행정동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법정동</a:t>
            </a:r>
            <a:r>
              <a:rPr lang="ko-KR" altLang="en-US" sz="1200" dirty="0" smtClean="0"/>
              <a:t> 주소 반환</a:t>
            </a:r>
            <a:r>
              <a:rPr lang="en-US" altLang="ko-KR" sz="1200" dirty="0" smtClean="0"/>
              <a:t>.</a:t>
            </a:r>
          </a:p>
          <a:p>
            <a:pPr marL="0" indent="0">
              <a:buNone/>
            </a:pPr>
            <a:r>
              <a:rPr lang="ko-KR" altLang="en-US" sz="1200" dirty="0" smtClean="0"/>
              <a:t>경로 </a:t>
            </a:r>
            <a:r>
              <a:rPr lang="en-US" altLang="ko-KR" sz="1200" dirty="0" smtClean="0"/>
              <a:t>: </a:t>
            </a:r>
            <a:r>
              <a:rPr lang="en-US" altLang="ko-KR" sz="1200" dirty="0"/>
              <a:t>/</a:t>
            </a:r>
            <a:r>
              <a:rPr lang="en-US" altLang="ko-KR" sz="1200" dirty="0" smtClean="0"/>
              <a:t>public/geocoding/</a:t>
            </a:r>
            <a:r>
              <a:rPr lang="en-US" altLang="ko-KR" sz="1200" dirty="0" smtClean="0">
                <a:solidFill>
                  <a:srgbClr val="FF0000"/>
                </a:solidFill>
              </a:rPr>
              <a:t>reverse</a:t>
            </a:r>
          </a:p>
          <a:p>
            <a:pPr marL="0" indent="0">
              <a:buNone/>
            </a:pPr>
            <a:r>
              <a:rPr lang="ko-KR" altLang="en-US" sz="1200" dirty="0" smtClean="0"/>
              <a:t>주요 </a:t>
            </a:r>
            <a:r>
              <a:rPr lang="ko-KR" altLang="en-US" sz="1200" dirty="0" err="1" smtClean="0"/>
              <a:t>파라미터</a:t>
            </a:r>
            <a:r>
              <a:rPr lang="en-US" altLang="ko-KR" sz="1200" dirty="0" smtClean="0"/>
              <a:t> </a:t>
            </a:r>
            <a:r>
              <a:rPr lang="en-US" altLang="ko-KR" sz="1200" dirty="0" smtClean="0"/>
              <a:t>(Request)</a:t>
            </a:r>
          </a:p>
          <a:p>
            <a:pPr marL="0" indent="0">
              <a:buNone/>
            </a:pPr>
            <a:r>
              <a:rPr lang="en-US" altLang="ko-KR" sz="1200" dirty="0" smtClean="0">
                <a:solidFill>
                  <a:srgbClr val="FF0000"/>
                </a:solidFill>
              </a:rPr>
              <a:t>ex : https://map.seoul.go.kr/openapi/v5/" + API_KEY + "/public/geocoding/reverse  </a:t>
            </a:r>
            <a:r>
              <a:rPr lang="en-US" altLang="ko-KR" sz="1200" dirty="0">
                <a:solidFill>
                  <a:srgbClr val="FF0000"/>
                </a:solidFill>
              </a:rPr>
              <a:t>+</a:t>
            </a:r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"?</a:t>
            </a:r>
            <a:r>
              <a:rPr lang="en-US" altLang="ko-KR" sz="1200" dirty="0" err="1">
                <a:solidFill>
                  <a:srgbClr val="FF0000"/>
                </a:solidFill>
              </a:rPr>
              <a:t>address_type</a:t>
            </a:r>
            <a:r>
              <a:rPr lang="en-US" altLang="ko-KR" sz="1200" dirty="0">
                <a:solidFill>
                  <a:srgbClr val="FF0000"/>
                </a:solidFill>
              </a:rPr>
              <a:t>=L“+ "&amp;</a:t>
            </a:r>
            <a:r>
              <a:rPr lang="en-US" altLang="ko-KR" sz="1200" dirty="0" err="1">
                <a:solidFill>
                  <a:srgbClr val="FF0000"/>
                </a:solidFill>
              </a:rPr>
              <a:t>coord_x</a:t>
            </a:r>
            <a:r>
              <a:rPr lang="en-US" altLang="ko-KR" sz="1200" dirty="0">
                <a:solidFill>
                  <a:srgbClr val="FF0000"/>
                </a:solidFill>
              </a:rPr>
              <a:t>=" + </a:t>
            </a:r>
            <a:r>
              <a:rPr lang="en-US" altLang="ko-KR" sz="1200" dirty="0" err="1">
                <a:solidFill>
                  <a:srgbClr val="FF0000"/>
                </a:solidFill>
              </a:rPr>
              <a:t>lng</a:t>
            </a:r>
            <a:r>
              <a:rPr lang="en-US" altLang="ko-KR" sz="1200" dirty="0">
                <a:solidFill>
                  <a:srgbClr val="FF0000"/>
                </a:solidFill>
              </a:rPr>
              <a:t> + "&amp;</a:t>
            </a:r>
            <a:r>
              <a:rPr lang="en-US" altLang="ko-KR" sz="1200" dirty="0" err="1">
                <a:solidFill>
                  <a:srgbClr val="FF0000"/>
                </a:solidFill>
              </a:rPr>
              <a:t>coord_y</a:t>
            </a:r>
            <a:r>
              <a:rPr lang="en-US" altLang="ko-KR" sz="1200" dirty="0">
                <a:solidFill>
                  <a:srgbClr val="FF0000"/>
                </a:solidFill>
              </a:rPr>
              <a:t>=" + </a:t>
            </a:r>
            <a:r>
              <a:rPr lang="en-US" altLang="ko-KR" sz="1200" dirty="0" err="1">
                <a:solidFill>
                  <a:srgbClr val="FF0000"/>
                </a:solidFill>
              </a:rPr>
              <a:t>lat</a:t>
            </a:r>
            <a:r>
              <a:rPr lang="en-US" altLang="ko-KR" sz="1200" dirty="0">
                <a:solidFill>
                  <a:srgbClr val="FF0000"/>
                </a:solidFill>
              </a:rPr>
              <a:t> + "&amp;</a:t>
            </a:r>
            <a:r>
              <a:rPr lang="en-US" altLang="ko-KR" sz="1200" dirty="0" err="1">
                <a:solidFill>
                  <a:srgbClr val="FF0000"/>
                </a:solidFill>
              </a:rPr>
              <a:t>req_lang</a:t>
            </a:r>
            <a:r>
              <a:rPr lang="en-US" altLang="ko-KR" sz="1200" dirty="0">
                <a:solidFill>
                  <a:srgbClr val="FF0000"/>
                </a:solidFill>
              </a:rPr>
              <a:t>=</a:t>
            </a:r>
            <a:r>
              <a:rPr lang="en-US" altLang="ko-KR" sz="1200" dirty="0" err="1">
                <a:solidFill>
                  <a:srgbClr val="FF0000"/>
                </a:solidFill>
              </a:rPr>
              <a:t>KOR&amp;res_lang</a:t>
            </a:r>
            <a:r>
              <a:rPr lang="en-US" altLang="ko-KR" sz="1200" dirty="0">
                <a:solidFill>
                  <a:srgbClr val="FF0000"/>
                </a:solidFill>
              </a:rPr>
              <a:t>=KOR</a:t>
            </a:r>
            <a:r>
              <a:rPr lang="en-US" altLang="ko-KR" sz="1200" dirty="0" smtClean="0">
                <a:solidFill>
                  <a:srgbClr val="FF0000"/>
                </a:solidFill>
              </a:rPr>
              <a:t>";</a:t>
            </a:r>
          </a:p>
          <a:p>
            <a:pPr marL="0" indent="0">
              <a:buNone/>
            </a:pPr>
            <a:endParaRPr lang="en-US" altLang="ko-KR" sz="1200" dirty="0" smtClean="0"/>
          </a:p>
          <a:p>
            <a:pPr marL="0" indent="0">
              <a:buNone/>
            </a:pPr>
            <a:endParaRPr lang="en-US" altLang="ko-KR" sz="1200" dirty="0" smtClean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 smtClean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 smtClean="0"/>
              <a:t>흐름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입력 </a:t>
            </a:r>
            <a:r>
              <a:rPr lang="en-US" altLang="ko-KR" sz="1200" dirty="0" smtClean="0"/>
              <a:t>(X, Y </a:t>
            </a:r>
            <a:r>
              <a:rPr lang="ko-KR" altLang="en-US" sz="1200" dirty="0" smtClean="0"/>
              <a:t>좌표 값</a:t>
            </a:r>
            <a:r>
              <a:rPr lang="en-US" altLang="ko-KR" sz="1200" dirty="0" smtClean="0"/>
              <a:t>) -&gt; API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처리 </a:t>
            </a:r>
            <a:r>
              <a:rPr lang="en-US" altLang="ko-KR" sz="1200" dirty="0" smtClean="0"/>
              <a:t>-&gt; </a:t>
            </a:r>
            <a:r>
              <a:rPr lang="ko-KR" altLang="en-US" sz="1200" dirty="0" smtClean="0"/>
              <a:t>출력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행정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법정동</a:t>
            </a:r>
            <a:r>
              <a:rPr lang="ko-KR" altLang="en-US" sz="1200" dirty="0" smtClean="0"/>
              <a:t> 텍스트 주소</a:t>
            </a:r>
            <a:r>
              <a:rPr lang="en-US" altLang="ko-KR" sz="1200" dirty="0" smtClean="0"/>
              <a:t>) </a:t>
            </a:r>
          </a:p>
          <a:p>
            <a:pPr marL="0" indent="0">
              <a:buNone/>
            </a:pPr>
            <a:endParaRPr lang="en-US" altLang="ko-KR" sz="1200" dirty="0" smtClean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744755"/>
              </p:ext>
            </p:extLst>
          </p:nvPr>
        </p:nvGraphicFramePr>
        <p:xfrm>
          <a:off x="759204" y="3025455"/>
          <a:ext cx="9394968" cy="1588492"/>
        </p:xfrm>
        <a:graphic>
          <a:graphicData uri="http://schemas.openxmlformats.org/drawingml/2006/table">
            <a:tbl>
              <a:tblPr/>
              <a:tblGrid>
                <a:gridCol w="1633908">
                  <a:extLst>
                    <a:ext uri="{9D8B030D-6E8A-4147-A177-3AD203B41FA5}">
                      <a16:colId xmlns:a16="http://schemas.microsoft.com/office/drawing/2014/main" val="2095860286"/>
                    </a:ext>
                  </a:extLst>
                </a:gridCol>
                <a:gridCol w="919073">
                  <a:extLst>
                    <a:ext uri="{9D8B030D-6E8A-4147-A177-3AD203B41FA5}">
                      <a16:colId xmlns:a16="http://schemas.microsoft.com/office/drawing/2014/main" val="691036221"/>
                    </a:ext>
                  </a:extLst>
                </a:gridCol>
                <a:gridCol w="970132">
                  <a:extLst>
                    <a:ext uri="{9D8B030D-6E8A-4147-A177-3AD203B41FA5}">
                      <a16:colId xmlns:a16="http://schemas.microsoft.com/office/drawing/2014/main" val="3327429514"/>
                    </a:ext>
                  </a:extLst>
                </a:gridCol>
                <a:gridCol w="5871855">
                  <a:extLst>
                    <a:ext uri="{9D8B030D-6E8A-4147-A177-3AD203B41FA5}">
                      <a16:colId xmlns:a16="http://schemas.microsoft.com/office/drawing/2014/main" val="3426162053"/>
                    </a:ext>
                  </a:extLst>
                </a:gridCol>
              </a:tblGrid>
              <a:tr h="397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파라미터명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2764"/>
                  </a:ext>
                </a:extLst>
              </a:tr>
              <a:tr h="397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coord_x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지점의 </a:t>
                      </a:r>
                      <a:r>
                        <a:rPr lang="ko-KR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경도 </a:t>
                      </a:r>
                      <a:r>
                        <a:rPr lang="en-US" altLang="ko-K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(Longitude)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27581"/>
                  </a:ext>
                </a:extLst>
              </a:tr>
              <a:tr h="397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coord_y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지점의 </a:t>
                      </a:r>
                      <a:r>
                        <a:rPr lang="ko-KR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위도 </a:t>
                      </a:r>
                      <a:r>
                        <a:rPr lang="en-US" altLang="ko-K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(Latitude)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240501"/>
                  </a:ext>
                </a:extLst>
              </a:tr>
              <a:tr h="397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address_type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받을 주소 기준 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법정동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행정동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새주소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2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2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9508" y="199591"/>
            <a:ext cx="9554361" cy="639046"/>
          </a:xfrm>
        </p:spPr>
        <p:txBody>
          <a:bodyPr rtlCol="0"/>
          <a:lstStyle/>
          <a:p>
            <a:r>
              <a:rPr lang="ko-KR" altLang="en-US" dirty="0" err="1" smtClean="0"/>
              <a:t>도로명</a:t>
            </a:r>
            <a:r>
              <a:rPr lang="ko-KR" altLang="en-US" dirty="0" smtClean="0"/>
              <a:t> 주소 </a:t>
            </a:r>
            <a:r>
              <a:rPr lang="en-US" altLang="ko-KR" dirty="0" smtClean="0"/>
              <a:t>/ </a:t>
            </a:r>
            <a:r>
              <a:rPr lang="ko-KR" altLang="en-US" dirty="0" smtClean="0"/>
              <a:t>키워드 검색 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2063" y="939567"/>
            <a:ext cx="10989578" cy="5100506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ko-KR" altLang="en-US" sz="1200" dirty="0" smtClean="0"/>
              <a:t>목적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키워드나 </a:t>
            </a:r>
            <a:r>
              <a:rPr lang="ko-KR" altLang="en-US" sz="1200" dirty="0" err="1" smtClean="0"/>
              <a:t>도로명을</a:t>
            </a:r>
            <a:r>
              <a:rPr lang="ko-KR" altLang="en-US" sz="1200" dirty="0" smtClean="0"/>
              <a:t> 검색하여 중심 좌표 기준 반경 내의 주소 리스트 반환</a:t>
            </a:r>
            <a:endParaRPr lang="en-US" altLang="ko-KR" sz="1200" dirty="0" smtClean="0"/>
          </a:p>
          <a:p>
            <a:pPr marL="0" indent="0">
              <a:buNone/>
            </a:pPr>
            <a:r>
              <a:rPr lang="ko-KR" altLang="en-US" sz="1200" dirty="0" smtClean="0"/>
              <a:t>경로 </a:t>
            </a:r>
            <a:r>
              <a:rPr lang="en-US" altLang="ko-KR" sz="1200" dirty="0" smtClean="0"/>
              <a:t>: </a:t>
            </a:r>
            <a:r>
              <a:rPr lang="en-US" altLang="ko-KR" sz="1200" dirty="0"/>
              <a:t>/</a:t>
            </a:r>
            <a:r>
              <a:rPr lang="en-US" altLang="ko-KR" sz="1200" dirty="0" smtClean="0"/>
              <a:t>public/</a:t>
            </a:r>
            <a:r>
              <a:rPr lang="en-US" altLang="ko-KR" sz="1200" dirty="0" smtClean="0">
                <a:solidFill>
                  <a:srgbClr val="FF0000"/>
                </a:solidFill>
              </a:rPr>
              <a:t>search/address</a:t>
            </a:r>
          </a:p>
          <a:p>
            <a:pPr marL="0" indent="0">
              <a:buNone/>
            </a:pPr>
            <a:r>
              <a:rPr lang="ko-KR" altLang="en-US" sz="1200" dirty="0" smtClean="0"/>
              <a:t>주요 </a:t>
            </a:r>
            <a:r>
              <a:rPr lang="ko-KR" altLang="en-US" sz="1200" dirty="0" err="1" smtClean="0"/>
              <a:t>파라미터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(Request) </a:t>
            </a:r>
          </a:p>
          <a:p>
            <a:pPr marL="0" indent="0">
              <a:buNone/>
            </a:pPr>
            <a:r>
              <a:rPr lang="en-US" altLang="ko-KR" sz="1200" dirty="0" smtClean="0">
                <a:solidFill>
                  <a:srgbClr val="FF0000"/>
                </a:solidFill>
              </a:rPr>
              <a:t>ex : </a:t>
            </a:r>
            <a:r>
              <a:rPr lang="en-US" altLang="ko-KR" sz="1200" dirty="0" smtClean="0">
                <a:solidFill>
                  <a:srgbClr val="FF0000"/>
                </a:solidFill>
              </a:rPr>
              <a:t>"https://map.seoul.go.kr/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openapi</a:t>
            </a:r>
            <a:r>
              <a:rPr lang="en-US" altLang="ko-KR" sz="1200" dirty="0" smtClean="0">
                <a:solidFill>
                  <a:srgbClr val="FF0000"/>
                </a:solidFill>
              </a:rPr>
              <a:t>/v5/" + GEO_API_KEY + "/public/search/address“ + "?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search_name</a:t>
            </a:r>
            <a:r>
              <a:rPr lang="en-US" altLang="ko-KR" sz="1200" dirty="0" smtClean="0">
                <a:solidFill>
                  <a:srgbClr val="FF0000"/>
                </a:solidFill>
              </a:rPr>
              <a:t>=" +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encodeURIComponent</a:t>
            </a:r>
            <a:r>
              <a:rPr lang="en-US" altLang="ko-KR" sz="1200" dirty="0" smtClean="0">
                <a:solidFill>
                  <a:srgbClr val="FF0000"/>
                </a:solidFill>
              </a:rPr>
              <a:t>(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roadName</a:t>
            </a:r>
            <a:r>
              <a:rPr lang="en-US" altLang="ko-KR" sz="1200" dirty="0" smtClean="0">
                <a:solidFill>
                  <a:srgbClr val="FF0000"/>
                </a:solidFill>
              </a:rPr>
              <a:t>)</a:t>
            </a:r>
            <a:r>
              <a:rPr lang="en-US" altLang="ko-KR" sz="1200" dirty="0" smtClean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+ "&amp;</a:t>
            </a:r>
            <a:r>
              <a:rPr lang="en-US" altLang="ko-KR" sz="1200" dirty="0" err="1">
                <a:solidFill>
                  <a:srgbClr val="FF0000"/>
                </a:solidFill>
              </a:rPr>
              <a:t>search_type</a:t>
            </a:r>
            <a:r>
              <a:rPr lang="en-US" altLang="ko-KR" sz="1200" dirty="0">
                <a:solidFill>
                  <a:srgbClr val="FF0000"/>
                </a:solidFill>
              </a:rPr>
              <a:t>=2“+ "&amp;</a:t>
            </a:r>
            <a:r>
              <a:rPr lang="en-US" altLang="ko-KR" sz="1200" dirty="0" err="1">
                <a:solidFill>
                  <a:srgbClr val="FF0000"/>
                </a:solidFill>
              </a:rPr>
              <a:t>coord_x</a:t>
            </a:r>
            <a:r>
              <a:rPr lang="en-US" altLang="ko-KR" sz="1200" dirty="0">
                <a:solidFill>
                  <a:srgbClr val="FF0000"/>
                </a:solidFill>
              </a:rPr>
              <a:t>=126.974695" X + "&amp;</a:t>
            </a:r>
            <a:r>
              <a:rPr lang="en-US" altLang="ko-KR" sz="1200" dirty="0" err="1">
                <a:solidFill>
                  <a:srgbClr val="FF0000"/>
                </a:solidFill>
              </a:rPr>
              <a:t>coord_y</a:t>
            </a:r>
            <a:r>
              <a:rPr lang="en-US" altLang="ko-KR" sz="1200" dirty="0">
                <a:solidFill>
                  <a:srgbClr val="FF0000"/>
                </a:solidFill>
              </a:rPr>
              <a:t>=37.564150” + "&amp;distance=50000“ + + "&amp;</a:t>
            </a:r>
            <a:r>
              <a:rPr lang="en-US" altLang="ko-KR" sz="1200" dirty="0" err="1">
                <a:solidFill>
                  <a:srgbClr val="FF0000"/>
                </a:solidFill>
              </a:rPr>
              <a:t>page_size</a:t>
            </a:r>
            <a:r>
              <a:rPr lang="en-US" altLang="ko-KR" sz="1200" dirty="0">
                <a:solidFill>
                  <a:srgbClr val="FF0000"/>
                </a:solidFill>
              </a:rPr>
              <a:t>=20&amp;page_no=1"; 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sz="1200" spc="-100" dirty="0" smtClean="0"/>
              <a:t>흐름 </a:t>
            </a:r>
            <a:r>
              <a:rPr lang="en-US" altLang="ko-KR" sz="1200" spc="-100" dirty="0" smtClean="0"/>
              <a:t>:  </a:t>
            </a:r>
            <a:r>
              <a:rPr lang="ko-KR" altLang="en-US" sz="1200" spc="-100" dirty="0" smtClean="0"/>
              <a:t>입력 </a:t>
            </a:r>
            <a:r>
              <a:rPr lang="en-US" altLang="ko-KR" sz="1200" spc="-100" dirty="0" smtClean="0"/>
              <a:t>(</a:t>
            </a:r>
            <a:r>
              <a:rPr lang="ko-KR" altLang="en-US" sz="1200" spc="-100" dirty="0" smtClean="0"/>
              <a:t>키워드 및 기준 좌표</a:t>
            </a:r>
            <a:r>
              <a:rPr lang="en-US" altLang="ko-KR" sz="1200" spc="-100" dirty="0" smtClean="0"/>
              <a:t>/</a:t>
            </a:r>
            <a:r>
              <a:rPr lang="ko-KR" altLang="en-US" sz="1200" spc="-100" dirty="0" smtClean="0"/>
              <a:t>반경</a:t>
            </a:r>
            <a:r>
              <a:rPr lang="en-US" altLang="ko-KR" sz="1200" spc="-100" dirty="0" smtClean="0"/>
              <a:t>) -&gt; API </a:t>
            </a:r>
            <a:r>
              <a:rPr lang="ko-KR" altLang="en-US" sz="1200" spc="-100" dirty="0" smtClean="0"/>
              <a:t>처리 </a:t>
            </a:r>
            <a:r>
              <a:rPr lang="en-US" altLang="ko-KR" sz="1200" spc="-100" dirty="0" smtClean="0"/>
              <a:t>-&gt; </a:t>
            </a:r>
            <a:r>
              <a:rPr lang="ko-KR" altLang="en-US" sz="1200" spc="-100" dirty="0" smtClean="0"/>
              <a:t>출력 </a:t>
            </a:r>
            <a:r>
              <a:rPr lang="en-US" altLang="ko-KR" sz="1200" spc="-100" dirty="0" smtClean="0"/>
              <a:t>(</a:t>
            </a:r>
            <a:r>
              <a:rPr lang="ko-KR" altLang="en-US" sz="1200" spc="-100" dirty="0" smtClean="0"/>
              <a:t>조건에 맞는 주소 배열 리스트</a:t>
            </a:r>
            <a:r>
              <a:rPr lang="en-US" altLang="ko-KR" sz="1200" spc="-100" dirty="0" smtClean="0"/>
              <a:t>)</a:t>
            </a:r>
            <a:r>
              <a:rPr lang="ko-KR" altLang="en-US" sz="1200" spc="-100" dirty="0" smtClean="0"/>
              <a:t> </a:t>
            </a:r>
            <a:endParaRPr lang="en-US" altLang="ko-KR" sz="1200" spc="-1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075661"/>
              </p:ext>
            </p:extLst>
          </p:nvPr>
        </p:nvGraphicFramePr>
        <p:xfrm>
          <a:off x="562064" y="2994868"/>
          <a:ext cx="10536570" cy="2164360"/>
        </p:xfrm>
        <a:graphic>
          <a:graphicData uri="http://schemas.openxmlformats.org/drawingml/2006/table">
            <a:tbl>
              <a:tblPr/>
              <a:tblGrid>
                <a:gridCol w="1832447">
                  <a:extLst>
                    <a:ext uri="{9D8B030D-6E8A-4147-A177-3AD203B41FA5}">
                      <a16:colId xmlns:a16="http://schemas.microsoft.com/office/drawing/2014/main" val="3026175140"/>
                    </a:ext>
                  </a:extLst>
                </a:gridCol>
                <a:gridCol w="1030751">
                  <a:extLst>
                    <a:ext uri="{9D8B030D-6E8A-4147-A177-3AD203B41FA5}">
                      <a16:colId xmlns:a16="http://schemas.microsoft.com/office/drawing/2014/main" val="648896394"/>
                    </a:ext>
                  </a:extLst>
                </a:gridCol>
                <a:gridCol w="1088015">
                  <a:extLst>
                    <a:ext uri="{9D8B030D-6E8A-4147-A177-3AD203B41FA5}">
                      <a16:colId xmlns:a16="http://schemas.microsoft.com/office/drawing/2014/main" val="2210075697"/>
                    </a:ext>
                  </a:extLst>
                </a:gridCol>
                <a:gridCol w="6585357">
                  <a:extLst>
                    <a:ext uri="{9D8B030D-6E8A-4147-A177-3AD203B41FA5}">
                      <a16:colId xmlns:a16="http://schemas.microsoft.com/office/drawing/2014/main" val="2757513874"/>
                    </a:ext>
                  </a:extLst>
                </a:gridCol>
              </a:tblGrid>
              <a:tr h="2705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89890"/>
                  </a:ext>
                </a:extLst>
              </a:tr>
              <a:tr h="2705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search_name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oogle Sans Tex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키워드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(※ 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encodeURIComponent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인코딩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필수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118493"/>
                  </a:ext>
                </a:extLst>
              </a:tr>
              <a:tr h="2705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search_type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 유형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2 -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도로명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주소 중심 검색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947913"/>
                  </a:ext>
                </a:extLst>
              </a:tr>
              <a:tr h="2705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coord_x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 기준 중심점 </a:t>
                      </a:r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경도 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서울시청 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403770"/>
                  </a:ext>
                </a:extLst>
              </a:tr>
              <a:tr h="2705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coord_y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 기준 중심점 </a:t>
                      </a:r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위도 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서울시청 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41799"/>
                  </a:ext>
                </a:extLst>
              </a:tr>
              <a:tr h="2705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distance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중심점으로부터의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검색 반경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단위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50000)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25498"/>
                  </a:ext>
                </a:extLst>
              </a:tr>
              <a:tr h="2705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page_size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oogle Sans Tex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 페이지당 출력할 결과 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125781"/>
                  </a:ext>
                </a:extLst>
              </a:tr>
              <a:tr h="2705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page_no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oogle Sans Tex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출력할 페이지 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79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88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280915"/>
            <a:ext cx="9554361" cy="639046"/>
          </a:xfrm>
        </p:spPr>
        <p:txBody>
          <a:bodyPr rtlCol="0"/>
          <a:lstStyle/>
          <a:p>
            <a:pPr rtl="0"/>
            <a:r>
              <a:rPr lang="ko-KR" altLang="en-US" dirty="0" smtClean="0"/>
              <a:t>테마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3006" y="1157681"/>
            <a:ext cx="11252844" cy="4756558"/>
          </a:xfrm>
        </p:spPr>
        <p:txBody>
          <a:bodyPr rtlCol="0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 smtClean="0"/>
              <a:t>1. </a:t>
            </a:r>
            <a:r>
              <a:rPr lang="ko-KR" altLang="en-US" sz="1800" dirty="0" smtClean="0"/>
              <a:t>테마</a:t>
            </a:r>
            <a:r>
              <a:rPr lang="en-US" altLang="ko-KR" sz="1800" dirty="0"/>
              <a:t>(Theme)</a:t>
            </a:r>
            <a:r>
              <a:rPr lang="ko-KR" altLang="en-US" sz="1800" dirty="0"/>
              <a:t>란</a:t>
            </a:r>
            <a:r>
              <a:rPr lang="en-US" altLang="ko-KR" sz="1800" dirty="0" smtClean="0"/>
              <a:t>?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spc="100" dirty="0" smtClean="0"/>
              <a:t>테마</a:t>
            </a:r>
            <a:r>
              <a:rPr lang="en-US" altLang="ko-KR" sz="1800" spc="100" dirty="0" smtClean="0"/>
              <a:t>(Theme)</a:t>
            </a:r>
            <a:r>
              <a:rPr lang="ko-KR" altLang="en-US" sz="1800" spc="100" dirty="0" smtClean="0"/>
              <a:t>는 서울시 스마트서울맵에서 제공하는 </a:t>
            </a:r>
            <a:r>
              <a:rPr lang="en-US" altLang="ko-KR" sz="1800" spc="100" dirty="0" smtClean="0"/>
              <a:t>'</a:t>
            </a:r>
            <a:r>
              <a:rPr lang="ko-KR" altLang="en-US" sz="1800" spc="100" dirty="0" smtClean="0"/>
              <a:t>주제별 특화 지도 정보</a:t>
            </a:r>
            <a:r>
              <a:rPr lang="en-US" altLang="ko-KR" sz="1800" spc="100" dirty="0" smtClean="0"/>
              <a:t>'</a:t>
            </a:r>
            <a:r>
              <a:rPr lang="ko-KR" altLang="en-US" sz="1800" spc="100" dirty="0" smtClean="0"/>
              <a:t>를 의미합니다</a:t>
            </a:r>
            <a:r>
              <a:rPr lang="en-US" altLang="ko-KR" sz="1800" spc="100" dirty="0" smtClean="0"/>
              <a:t>. </a:t>
            </a:r>
            <a:r>
              <a:rPr lang="ko-KR" altLang="en-US" sz="1800" spc="100" dirty="0" smtClean="0"/>
              <a:t>단순한 지리적 위치뿐만 아니라</a:t>
            </a:r>
            <a:r>
              <a:rPr lang="en-US" altLang="ko-KR" sz="1800" spc="100" dirty="0" smtClean="0"/>
              <a:t>, </a:t>
            </a:r>
            <a:r>
              <a:rPr lang="ko-KR" altLang="en-US" sz="1800" spc="100" dirty="0" smtClean="0"/>
              <a:t>특정 목적</a:t>
            </a:r>
            <a:r>
              <a:rPr lang="en-US" altLang="ko-KR" sz="1800" spc="100" dirty="0" smtClean="0"/>
              <a:t>(</a:t>
            </a:r>
            <a:r>
              <a:rPr lang="ko-KR" altLang="en-US" sz="1800" spc="100" dirty="0" smtClean="0"/>
              <a:t>예</a:t>
            </a:r>
            <a:r>
              <a:rPr lang="en-US" altLang="ko-KR" sz="1800" spc="100" dirty="0" smtClean="0"/>
              <a:t>: </a:t>
            </a:r>
            <a:r>
              <a:rPr lang="ko-KR" altLang="en-US" sz="1800" spc="100" dirty="0" smtClean="0"/>
              <a:t>기후동행카드 판매처</a:t>
            </a:r>
            <a:r>
              <a:rPr lang="en-US" altLang="ko-KR" sz="1800" spc="100" dirty="0" smtClean="0"/>
              <a:t>, </a:t>
            </a:r>
            <a:r>
              <a:rPr lang="ko-KR" altLang="en-US" sz="1800" spc="100" dirty="0" smtClean="0"/>
              <a:t>공공야간약국</a:t>
            </a:r>
            <a:r>
              <a:rPr lang="en-US" altLang="ko-KR" sz="1800" spc="100" dirty="0" smtClean="0"/>
              <a:t>, </a:t>
            </a:r>
            <a:r>
              <a:rPr lang="ko-KR" altLang="en-US" sz="1800" spc="100" dirty="0" smtClean="0"/>
              <a:t>서울로 </a:t>
            </a:r>
            <a:r>
              <a:rPr lang="en-US" altLang="ko-KR" sz="1800" spc="100" dirty="0" smtClean="0"/>
              <a:t>7017 </a:t>
            </a:r>
            <a:r>
              <a:rPr lang="ko-KR" altLang="en-US" sz="1800" spc="100" dirty="0" err="1" smtClean="0"/>
              <a:t>보행길</a:t>
            </a:r>
            <a:r>
              <a:rPr lang="ko-KR" altLang="en-US" sz="1800" spc="100" dirty="0" smtClean="0"/>
              <a:t> 등</a:t>
            </a:r>
            <a:r>
              <a:rPr lang="en-US" altLang="ko-KR" sz="1800" spc="100" dirty="0" smtClean="0"/>
              <a:t>)</a:t>
            </a:r>
            <a:r>
              <a:rPr lang="ko-KR" altLang="en-US" sz="1800" spc="100" dirty="0" smtClean="0"/>
              <a:t>에 맞는 공간 정보와 상세 콘텐츠</a:t>
            </a:r>
            <a:r>
              <a:rPr lang="en-US" altLang="ko-KR" sz="1800" spc="100" dirty="0" smtClean="0"/>
              <a:t>(</a:t>
            </a:r>
            <a:r>
              <a:rPr lang="ko-KR" altLang="en-US" sz="1800" spc="100" dirty="0" smtClean="0"/>
              <a:t>이미지</a:t>
            </a:r>
            <a:r>
              <a:rPr lang="en-US" altLang="ko-KR" sz="1800" spc="100" dirty="0" smtClean="0"/>
              <a:t>, </a:t>
            </a:r>
            <a:r>
              <a:rPr lang="ko-KR" altLang="en-US" sz="1800" spc="100" dirty="0" smtClean="0"/>
              <a:t>설명</a:t>
            </a:r>
            <a:r>
              <a:rPr lang="en-US" altLang="ko-KR" sz="1800" spc="100" dirty="0" smtClean="0"/>
              <a:t>, </a:t>
            </a:r>
            <a:r>
              <a:rPr lang="ko-KR" altLang="en-US" sz="1800" spc="100" dirty="0" smtClean="0"/>
              <a:t>부가 정보</a:t>
            </a:r>
            <a:r>
              <a:rPr lang="en-US" altLang="ko-KR" sz="1800" spc="100" dirty="0" smtClean="0"/>
              <a:t>)</a:t>
            </a:r>
            <a:r>
              <a:rPr lang="ko-KR" altLang="en-US" sz="1800" spc="100" dirty="0" smtClean="0"/>
              <a:t>를 하나로 묶어 시민들에게 제공하는 데이터 세트입니다</a:t>
            </a:r>
            <a:r>
              <a:rPr lang="en-US" altLang="ko-KR" sz="1800" spc="100" dirty="0" smtClean="0"/>
              <a:t>.</a:t>
            </a:r>
            <a:endParaRPr lang="en-US" altLang="ko-KR" sz="1800" spc="1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5665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280915"/>
            <a:ext cx="9554361" cy="639046"/>
          </a:xfrm>
        </p:spPr>
        <p:txBody>
          <a:bodyPr rtlCol="0"/>
          <a:lstStyle/>
          <a:p>
            <a:r>
              <a:rPr lang="ko-KR" altLang="en-US" dirty="0"/>
              <a:t>기본 통신 규격 및 설명 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3006" y="1157681"/>
            <a:ext cx="11252844" cy="4756558"/>
          </a:xfrm>
        </p:spPr>
        <p:txBody>
          <a:bodyPr rtlCol="0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/>
              <a:t>Base URL(</a:t>
            </a:r>
            <a:r>
              <a:rPr lang="ko-KR" altLang="en-US" sz="1800" dirty="0" err="1"/>
              <a:t>기본주소</a:t>
            </a:r>
            <a:r>
              <a:rPr lang="en-US" altLang="ko-KR" sz="1800" dirty="0"/>
              <a:t>) : [https://map.seoul.go.kr/openapi/v5/](</a:t>
            </a:r>
            <a:r>
              <a:rPr lang="en-US" altLang="ko-KR" sz="1800" dirty="0">
                <a:hlinkClick r:id="rId3"/>
              </a:rPr>
              <a:t>https://map.seoul.go.kr/openapi/v5/){themeKey}/public</a:t>
            </a:r>
            <a:endParaRPr lang="en-US" altLang="ko-KR" sz="1800" dirty="0"/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dirty="0"/>
              <a:t>통신방식 </a:t>
            </a:r>
            <a:r>
              <a:rPr lang="en-US" altLang="ko-KR" sz="1800" dirty="0"/>
              <a:t>: (HTTP Method) : GET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dirty="0" err="1"/>
              <a:t>응답형식</a:t>
            </a:r>
            <a:r>
              <a:rPr lang="ko-KR" altLang="en-US" sz="1800" dirty="0"/>
              <a:t> </a:t>
            </a:r>
            <a:r>
              <a:rPr lang="en-US" altLang="ko-KR" sz="1800" dirty="0"/>
              <a:t>(Response Format) : JSON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dirty="0"/>
              <a:t>인증방식 </a:t>
            </a:r>
            <a:r>
              <a:rPr lang="en-US" altLang="ko-KR" sz="1800" dirty="0"/>
              <a:t>: URL Path Variable </a:t>
            </a:r>
            <a:r>
              <a:rPr lang="ko-KR" altLang="en-US" sz="1800" dirty="0"/>
              <a:t>방식 </a:t>
            </a:r>
            <a:r>
              <a:rPr lang="en-US" altLang="ko-KR" sz="1800" dirty="0"/>
              <a:t>(</a:t>
            </a:r>
            <a:r>
              <a:rPr lang="ko-KR" altLang="en-US" sz="1800" dirty="0"/>
              <a:t>발급받은 테마 </a:t>
            </a:r>
            <a:r>
              <a:rPr lang="ko-KR" altLang="en-US" sz="1800" dirty="0" err="1"/>
              <a:t>인증키를</a:t>
            </a:r>
            <a:r>
              <a:rPr lang="ko-KR" altLang="en-US" sz="1800" dirty="0"/>
              <a:t> </a:t>
            </a:r>
            <a:r>
              <a:rPr lang="en-US" altLang="ko-KR" sz="1800" dirty="0"/>
              <a:t>Base URL </a:t>
            </a:r>
            <a:r>
              <a:rPr lang="ko-KR" altLang="en-US" sz="1800" dirty="0"/>
              <a:t>의 </a:t>
            </a:r>
            <a:r>
              <a:rPr lang="en-US" altLang="ko-KR" sz="1800" dirty="0" err="1">
                <a:hlinkClick r:id="rId3"/>
              </a:rPr>
              <a:t>themeKey</a:t>
            </a:r>
            <a:r>
              <a:rPr lang="en-US" altLang="ko-KR" sz="1800" dirty="0"/>
              <a:t> </a:t>
            </a:r>
            <a:r>
              <a:rPr lang="ko-KR" altLang="en-US" sz="1800" dirty="0"/>
              <a:t>에 넣고 호출</a:t>
            </a:r>
            <a:endParaRPr lang="en-US" altLang="ko-KR" sz="1800" dirty="0"/>
          </a:p>
          <a:p>
            <a:pPr marL="0" indent="0" rtl="0">
              <a:lnSpc>
                <a:spcPct val="200000"/>
              </a:lnSpc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7621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>
            <a:normAutofit fontScale="9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전체 데이터 흐름 </a:t>
            </a:r>
            <a:r>
              <a:rPr lang="en-US" altLang="ko-KR" dirty="0"/>
              <a:t>(Data Flow)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108" y="1350512"/>
            <a:ext cx="10914077" cy="4738381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/>
              <a:t>사용자가 앱이나 웹에서 지도를 사용할 때 </a:t>
            </a:r>
            <a:r>
              <a:rPr lang="en-US" altLang="ko-KR" sz="1800" dirty="0" smtClean="0"/>
              <a:t>API</a:t>
            </a:r>
            <a:r>
              <a:rPr lang="ko-KR" altLang="en-US" sz="1800" dirty="0" smtClean="0"/>
              <a:t>가 호출되는 권장 순서 </a:t>
            </a:r>
            <a:endParaRPr lang="en-US" altLang="ko-KR" sz="1800" dirty="0" smtClean="0"/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ko-KR" sz="1800" dirty="0" smtClean="0"/>
              <a:t>  1. </a:t>
            </a:r>
            <a:r>
              <a:rPr lang="ko-KR" altLang="en-US" sz="1800" dirty="0" smtClean="0"/>
              <a:t>테마 리스트 조회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제공 가능한 전체 테마 목록을 불러와 화면에 노출</a:t>
            </a:r>
            <a:endParaRPr lang="en-US" altLang="ko-KR" sz="1800" dirty="0" smtClean="0"/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2. </a:t>
            </a:r>
            <a:r>
              <a:rPr lang="ko-KR" altLang="en-US" sz="1800" dirty="0" smtClean="0"/>
              <a:t>콘텐츠 리스트 조회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사용자가 특정 테마를 선택하면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사용자의 현재 위치 좌표</a:t>
            </a:r>
            <a:r>
              <a:rPr lang="en-US" altLang="ko-KR" sz="1800" dirty="0" smtClean="0"/>
              <a:t>(X,Y)</a:t>
            </a:r>
            <a:r>
              <a:rPr lang="ko-KR" altLang="en-US" sz="1800" dirty="0" smtClean="0"/>
              <a:t>를 기반으로 </a:t>
            </a:r>
            <a:endParaRPr lang="en-US" altLang="ko-KR" sz="1800" dirty="0" smtClean="0"/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</a:t>
            </a:r>
            <a:r>
              <a:rPr lang="ko-KR" altLang="en-US" sz="1800" dirty="0" smtClean="0"/>
              <a:t>반경 내의 지점</a:t>
            </a:r>
            <a:r>
              <a:rPr lang="en-US" altLang="ko-KR" sz="1800" dirty="0" smtClean="0"/>
              <a:t>(</a:t>
            </a:r>
            <a:r>
              <a:rPr lang="ko-KR" altLang="en-US" sz="1800" dirty="0" err="1" smtClean="0"/>
              <a:t>마커</a:t>
            </a:r>
            <a:r>
              <a:rPr lang="en-US" altLang="ko-KR" sz="1800" dirty="0" smtClean="0"/>
              <a:t>) </a:t>
            </a:r>
            <a:r>
              <a:rPr lang="ko-KR" altLang="en-US" sz="1800" dirty="0" smtClean="0"/>
              <a:t>목록을 지도에 렌더링 합니다</a:t>
            </a:r>
            <a:r>
              <a:rPr lang="en-US" altLang="ko-KR" sz="1800" dirty="0" smtClean="0"/>
              <a:t>. </a:t>
            </a:r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3. </a:t>
            </a:r>
            <a:r>
              <a:rPr lang="ko-KR" altLang="en-US" sz="1800" dirty="0" smtClean="0"/>
              <a:t>콘텐츠 상세 조회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사용자가 지도 위의 특정 지점</a:t>
            </a:r>
            <a:r>
              <a:rPr lang="en-US" altLang="ko-KR" sz="1800" dirty="0" smtClean="0"/>
              <a:t>(</a:t>
            </a:r>
            <a:r>
              <a:rPr lang="ko-KR" altLang="en-US" sz="1800" dirty="0" err="1" smtClean="0"/>
              <a:t>마커</a:t>
            </a:r>
            <a:r>
              <a:rPr lang="en-US" altLang="ko-KR" sz="1800" dirty="0" smtClean="0"/>
              <a:t>) </a:t>
            </a:r>
            <a:r>
              <a:rPr lang="ko-KR" altLang="en-US" sz="1800" dirty="0" smtClean="0"/>
              <a:t>을 클릭하면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해당 지점의 상세 정보를 </a:t>
            </a:r>
            <a:endParaRPr lang="en-US" altLang="ko-KR" sz="1800" dirty="0" smtClean="0"/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    </a:t>
            </a:r>
            <a:r>
              <a:rPr lang="ko-KR" altLang="en-US" sz="1800" dirty="0" smtClean="0"/>
              <a:t>불러와 팝업이나 상세 페이지로 보여줍니다</a:t>
            </a:r>
            <a:r>
              <a:rPr lang="en-US" altLang="ko-KR" sz="1800" dirty="0" smtClean="0"/>
              <a:t>. </a:t>
            </a:r>
          </a:p>
          <a:p>
            <a:pPr marL="0" indent="0" rtl="0">
              <a:buNone/>
            </a:pPr>
            <a:endParaRPr lang="en-US" altLang="ko-KR" sz="1800" dirty="0" smtClean="0"/>
          </a:p>
          <a:p>
            <a:pPr rtl="0"/>
            <a:endParaRPr lang="en-US" altLang="ko-KR" sz="1800" dirty="0"/>
          </a:p>
          <a:p>
            <a:pPr rtl="0"/>
            <a:endParaRPr lang="en-US" altLang="ko-KR" sz="1800" dirty="0" smtClean="0"/>
          </a:p>
          <a:p>
            <a:pPr marL="0" indent="0" rtl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9861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>
            <a:normAutofit fontScale="9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/>
              <a:t> 테마 </a:t>
            </a:r>
            <a:r>
              <a:rPr lang="ko-KR" altLang="en-US" dirty="0"/>
              <a:t>리스트 조회 </a:t>
            </a:r>
            <a:r>
              <a:rPr lang="en-US" altLang="ko-KR" dirty="0"/>
              <a:t>(</a:t>
            </a:r>
            <a:r>
              <a:rPr lang="ko-KR" altLang="en-US" dirty="0"/>
              <a:t>국문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108" y="1149176"/>
            <a:ext cx="10914077" cy="4738381"/>
          </a:xfrm>
        </p:spPr>
        <p:txBody>
          <a:bodyPr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목적 </a:t>
            </a:r>
            <a:r>
              <a:rPr lang="en-US" altLang="ko-KR" sz="1200" dirty="0" smtClean="0"/>
              <a:t>: </a:t>
            </a:r>
            <a:r>
              <a:rPr lang="ko-KR" altLang="en-US" sz="1200" dirty="0"/>
              <a:t>스마트서울맵에 등록된 전체 또는 특정 분류의 테마 목록과 메타데이터</a:t>
            </a:r>
            <a:r>
              <a:rPr lang="en-US" altLang="ko-KR" sz="1200" dirty="0"/>
              <a:t>(</a:t>
            </a:r>
            <a:r>
              <a:rPr lang="ko-KR" altLang="en-US" sz="1200" dirty="0"/>
              <a:t>아이콘</a:t>
            </a:r>
            <a:r>
              <a:rPr lang="en-US" altLang="ko-KR" sz="1200" dirty="0"/>
              <a:t>, </a:t>
            </a:r>
            <a:r>
              <a:rPr lang="ko-KR" altLang="en-US" sz="1200" dirty="0"/>
              <a:t>이미지</a:t>
            </a:r>
            <a:r>
              <a:rPr lang="en-US" altLang="ko-KR" sz="1200" dirty="0"/>
              <a:t>, </a:t>
            </a:r>
            <a:r>
              <a:rPr lang="ko-KR" altLang="en-US" sz="1200" dirty="0"/>
              <a:t>설명 등</a:t>
            </a:r>
            <a:r>
              <a:rPr lang="en-US" altLang="ko-KR" sz="1200" dirty="0"/>
              <a:t>)</a:t>
            </a:r>
            <a:r>
              <a:rPr lang="ko-KR" altLang="en-US" sz="1200" dirty="0"/>
              <a:t>를 조회합니다</a:t>
            </a:r>
            <a:r>
              <a:rPr lang="en-US" altLang="ko-KR" sz="1200" dirty="0" smtClean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/>
              <a:t>경로 </a:t>
            </a:r>
            <a:r>
              <a:rPr lang="en-US" altLang="ko-KR" sz="1200" dirty="0" smtClean="0"/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/themes/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ko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주요 </a:t>
            </a:r>
            <a:r>
              <a:rPr lang="ko-KR" altLang="en-US" sz="1200" dirty="0" err="1" smtClean="0"/>
              <a:t>파라미터</a:t>
            </a:r>
            <a:r>
              <a:rPr lang="ko-KR" altLang="en-US" sz="1200" dirty="0" smtClean="0"/>
              <a:t> </a:t>
            </a:r>
            <a:endParaRPr lang="en-US" altLang="ko-KR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200" dirty="0">
                <a:solidFill>
                  <a:srgbClr val="FF0000"/>
                </a:solidFill>
              </a:rPr>
              <a:t>ex : </a:t>
            </a:r>
            <a:r>
              <a:rPr lang="en-US" altLang="ko-KR" sz="1200" dirty="0">
                <a:solidFill>
                  <a:srgbClr val="FF0000"/>
                </a:solidFill>
                <a:hlinkClick r:id="rId3"/>
              </a:rPr>
              <a:t>https://map.seoul.go.kr/openapi/v5/${themeKey}/</a:t>
            </a:r>
            <a:r>
              <a:rPr lang="en-US" altLang="ko-KR" sz="1200" dirty="0" smtClean="0">
                <a:solidFill>
                  <a:srgbClr val="FF0000"/>
                </a:solidFill>
                <a:hlinkClick r:id="rId3"/>
              </a:rPr>
              <a:t>public/themes/ko?theme_type=2&amp;page_size=30&amp;page_no=1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200" dirty="0" smtClean="0"/>
              <a:t>흐름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클</a:t>
            </a:r>
            <a:r>
              <a:rPr lang="ko-KR" altLang="en-US" sz="1200" dirty="0" smtClean="0"/>
              <a:t>라이언트 요청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케타고리별</a:t>
            </a:r>
            <a:r>
              <a:rPr lang="ko-KR" altLang="en-US" sz="1200" dirty="0" smtClean="0">
                <a:sym typeface="Wingdings" panose="05000000000000000000" pitchFamily="2" charset="2"/>
              </a:rPr>
              <a:t> 테마 목록</a:t>
            </a:r>
            <a:r>
              <a:rPr lang="en-US" altLang="ko-KR" sz="1200" dirty="0" smtClean="0">
                <a:sym typeface="Wingdings" panose="05000000000000000000" pitchFamily="2" charset="2"/>
              </a:rPr>
              <a:t>(ID, </a:t>
            </a:r>
            <a:r>
              <a:rPr lang="ko-KR" altLang="en-US" sz="1200" dirty="0" smtClean="0">
                <a:sym typeface="Wingdings" panose="05000000000000000000" pitchFamily="2" charset="2"/>
              </a:rPr>
              <a:t>이름</a:t>
            </a:r>
            <a:r>
              <a:rPr lang="en-US" altLang="ko-KR" sz="1200" dirty="0" smtClean="0">
                <a:sym typeface="Wingdings" panose="05000000000000000000" pitchFamily="2" charset="2"/>
              </a:rPr>
              <a:t>, </a:t>
            </a:r>
            <a:r>
              <a:rPr lang="ko-KR" altLang="en-US" sz="1200" dirty="0" smtClean="0">
                <a:sym typeface="Wingdings" panose="05000000000000000000" pitchFamily="2" charset="2"/>
              </a:rPr>
              <a:t>설명</a:t>
            </a:r>
            <a:r>
              <a:rPr lang="en-US" altLang="ko-KR" sz="1200" dirty="0" smtClean="0">
                <a:sym typeface="Wingdings" panose="05000000000000000000" pitchFamily="2" charset="2"/>
              </a:rPr>
              <a:t>, </a:t>
            </a:r>
            <a:r>
              <a:rPr lang="ko-KR" altLang="en-US" sz="1200" dirty="0" smtClean="0">
                <a:sym typeface="Wingdings" panose="05000000000000000000" pitchFamily="2" charset="2"/>
              </a:rPr>
              <a:t>하위카테고리 등</a:t>
            </a:r>
            <a:r>
              <a:rPr lang="en-US" altLang="ko-KR" sz="1200" dirty="0" smtClean="0">
                <a:sym typeface="Wingdings" panose="05000000000000000000" pitchFamily="2" charset="2"/>
              </a:rPr>
              <a:t>) JSON</a:t>
            </a:r>
            <a:r>
              <a:rPr lang="ko-KR" altLang="en-US" sz="1200" dirty="0" smtClean="0">
                <a:sym typeface="Wingdings" panose="05000000000000000000" pitchFamily="2" charset="2"/>
              </a:rPr>
              <a:t>응답</a:t>
            </a:r>
            <a:endParaRPr lang="en-US" altLang="ko-KR" sz="1200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47869"/>
              </p:ext>
            </p:extLst>
          </p:nvPr>
        </p:nvGraphicFramePr>
        <p:xfrm>
          <a:off x="654108" y="2932596"/>
          <a:ext cx="10008066" cy="1564401"/>
        </p:xfrm>
        <a:graphic>
          <a:graphicData uri="http://schemas.openxmlformats.org/drawingml/2006/table">
            <a:tbl>
              <a:tblPr/>
              <a:tblGrid>
                <a:gridCol w="1485258">
                  <a:extLst>
                    <a:ext uri="{9D8B030D-6E8A-4147-A177-3AD203B41FA5}">
                      <a16:colId xmlns:a16="http://schemas.microsoft.com/office/drawing/2014/main" val="784531165"/>
                    </a:ext>
                  </a:extLst>
                </a:gridCol>
                <a:gridCol w="748130">
                  <a:extLst>
                    <a:ext uri="{9D8B030D-6E8A-4147-A177-3AD203B41FA5}">
                      <a16:colId xmlns:a16="http://schemas.microsoft.com/office/drawing/2014/main" val="3238716320"/>
                    </a:ext>
                  </a:extLst>
                </a:gridCol>
                <a:gridCol w="616106">
                  <a:extLst>
                    <a:ext uri="{9D8B030D-6E8A-4147-A177-3AD203B41FA5}">
                      <a16:colId xmlns:a16="http://schemas.microsoft.com/office/drawing/2014/main" val="70847031"/>
                    </a:ext>
                  </a:extLst>
                </a:gridCol>
                <a:gridCol w="7158572">
                  <a:extLst>
                    <a:ext uri="{9D8B030D-6E8A-4147-A177-3AD203B41FA5}">
                      <a16:colId xmlns:a16="http://schemas.microsoft.com/office/drawing/2014/main" val="1882393161"/>
                    </a:ext>
                  </a:extLst>
                </a:gridCol>
              </a:tblGrid>
              <a:tr h="3750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98524"/>
                  </a:ext>
                </a:extLst>
              </a:tr>
              <a:tr h="589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theme_type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테마 분류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(1: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장애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2: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4: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5: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참여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).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복수 선택 시 콤마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(,)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801192"/>
                  </a:ext>
                </a:extLst>
              </a:tr>
              <a:tr h="3000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페이지 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098319"/>
                  </a:ext>
                </a:extLst>
              </a:tr>
              <a:tr h="3000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page_size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 번에 조회할 검색 개수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40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>
            <a:normAutofit fontScale="9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 </a:t>
            </a:r>
            <a:r>
              <a:rPr lang="ko-KR" altLang="en-US" dirty="0" smtClean="0"/>
              <a:t>콘텐츠 리스트 조회</a:t>
            </a:r>
            <a:r>
              <a:rPr lang="en-US" altLang="ko-KR" dirty="0" smtClean="0"/>
              <a:t>(</a:t>
            </a:r>
            <a:r>
              <a:rPr lang="ko-KR" altLang="en-US" dirty="0"/>
              <a:t>국문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0452" y="970993"/>
            <a:ext cx="10997734" cy="5471751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목적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선택한 테마에 속해 있는 실제 지도 </a:t>
            </a:r>
            <a:r>
              <a:rPr lang="ko-KR" altLang="en-US" sz="1200" dirty="0" err="1" smtClean="0"/>
              <a:t>마커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콘텐츠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들의 위치 및 요약 정보를 조회 합니다</a:t>
            </a:r>
            <a:r>
              <a:rPr lang="en-US" altLang="ko-KR" sz="1200" dirty="0" smtClean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경로 </a:t>
            </a:r>
            <a:r>
              <a:rPr lang="en-US" altLang="ko-KR" sz="1200" dirty="0" smtClean="0"/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/themes/contents/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ko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주요 </a:t>
            </a:r>
            <a:r>
              <a:rPr lang="ko-KR" altLang="en-US" sz="1200" dirty="0" err="1" smtClean="0"/>
              <a:t>파라미터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(Request)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 smtClean="0">
                <a:solidFill>
                  <a:srgbClr val="FF0000"/>
                </a:solidFill>
              </a:rPr>
              <a:t>ex 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en-US" altLang="ko-KR" sz="1200" dirty="0" smtClean="0">
                <a:solidFill>
                  <a:srgbClr val="FF0000"/>
                </a:solidFill>
                <a:hlinkClick r:id="rId3"/>
              </a:rPr>
              <a:t>https</a:t>
            </a:r>
            <a:r>
              <a:rPr lang="en-US" altLang="ko-KR" sz="1200" dirty="0">
                <a:solidFill>
                  <a:srgbClr val="FF0000"/>
                </a:solidFill>
                <a:hlinkClick r:id="rId3"/>
              </a:rPr>
              <a:t>://map.seoul.go.kr/openapi/v5/${themeKey}/public/themes/contents/ko</a:t>
            </a:r>
            <a:r>
              <a:rPr lang="en-US" altLang="ko-KR" sz="1200" dirty="0">
                <a:solidFill>
                  <a:srgbClr val="FF0000"/>
                </a:solidFill>
              </a:rPr>
              <a:t>?page_size=100&amp;page_no=1&amp;search_type=1`+ `&amp;</a:t>
            </a:r>
            <a:r>
              <a:rPr lang="en-US" altLang="ko-KR" sz="1200" dirty="0" err="1">
                <a:solidFill>
                  <a:srgbClr val="FF0000"/>
                </a:solidFill>
              </a:rPr>
              <a:t>theme_id</a:t>
            </a:r>
            <a:r>
              <a:rPr lang="en-US" altLang="ko-KR" sz="1200" dirty="0">
                <a:solidFill>
                  <a:srgbClr val="FF0000"/>
                </a:solidFill>
              </a:rPr>
              <a:t>=${</a:t>
            </a:r>
            <a:r>
              <a:rPr lang="en-US" altLang="ko-KR" sz="1200" dirty="0" err="1">
                <a:solidFill>
                  <a:srgbClr val="FF0000"/>
                </a:solidFill>
              </a:rPr>
              <a:t>themeId</a:t>
            </a:r>
            <a:r>
              <a:rPr lang="en-US" altLang="ko-KR" sz="1200" dirty="0">
                <a:solidFill>
                  <a:srgbClr val="FF0000"/>
                </a:solidFill>
              </a:rPr>
              <a:t>}&amp;</a:t>
            </a:r>
            <a:r>
              <a:rPr lang="en-US" altLang="ko-KR" sz="1200" dirty="0" err="1">
                <a:solidFill>
                  <a:srgbClr val="FF0000"/>
                </a:solidFill>
              </a:rPr>
              <a:t>target_coord_type</a:t>
            </a:r>
            <a:r>
              <a:rPr lang="en-US" altLang="ko-KR" sz="1200" dirty="0">
                <a:solidFill>
                  <a:srgbClr val="FF0000"/>
                </a:solidFill>
              </a:rPr>
              <a:t>=WGS84` + `&amp;</a:t>
            </a:r>
            <a:r>
              <a:rPr lang="en-US" altLang="ko-KR" sz="1200" dirty="0" err="1">
                <a:solidFill>
                  <a:srgbClr val="FF0000"/>
                </a:solidFill>
              </a:rPr>
              <a:t>coord_x</a:t>
            </a:r>
            <a:r>
              <a:rPr lang="en-US" altLang="ko-KR" sz="1200" dirty="0">
                <a:solidFill>
                  <a:srgbClr val="FF0000"/>
                </a:solidFill>
              </a:rPr>
              <a:t>=126.978509&amp;coord_y=37.566611&amp;distance=20000 + `&amp;</a:t>
            </a:r>
            <a:r>
              <a:rPr lang="en-US" altLang="ko-KR" sz="1200" dirty="0" err="1">
                <a:solidFill>
                  <a:srgbClr val="FF0000"/>
                </a:solidFill>
              </a:rPr>
              <a:t>search_name</a:t>
            </a:r>
            <a:r>
              <a:rPr lang="en-US" altLang="ko-KR" sz="1200" dirty="0">
                <a:solidFill>
                  <a:srgbClr val="FF0000"/>
                </a:solidFill>
              </a:rPr>
              <a:t>=&amp;</a:t>
            </a:r>
            <a:r>
              <a:rPr lang="en-US" altLang="ko-KR" sz="1200" dirty="0" err="1">
                <a:solidFill>
                  <a:srgbClr val="FF0000"/>
                </a:solidFill>
              </a:rPr>
              <a:t>content_id</a:t>
            </a:r>
            <a:r>
              <a:rPr lang="en-US" altLang="ko-KR" sz="1200" dirty="0">
                <a:solidFill>
                  <a:srgbClr val="FF0000"/>
                </a:solidFill>
              </a:rPr>
              <a:t>=&amp;</a:t>
            </a:r>
            <a:r>
              <a:rPr lang="en-US" altLang="ko-KR" sz="1200" dirty="0" err="1">
                <a:solidFill>
                  <a:srgbClr val="FF0000"/>
                </a:solidFill>
              </a:rPr>
              <a:t>subcate_id</a:t>
            </a:r>
            <a:r>
              <a:rPr lang="en-US" altLang="ko-KR" sz="1200" dirty="0">
                <a:solidFill>
                  <a:srgbClr val="FF0000"/>
                </a:solidFill>
              </a:rPr>
              <a:t>=`; // </a:t>
            </a:r>
            <a:r>
              <a:rPr lang="ko-KR" altLang="en-US" sz="1200" dirty="0">
                <a:solidFill>
                  <a:srgbClr val="FF0000"/>
                </a:solidFill>
              </a:rPr>
              <a:t>빈 </a:t>
            </a:r>
            <a:r>
              <a:rPr lang="ko-KR" altLang="en-US" sz="1200" dirty="0" err="1">
                <a:solidFill>
                  <a:srgbClr val="FF0000"/>
                </a:solidFill>
              </a:rPr>
              <a:t>파라미터</a:t>
            </a:r>
            <a:r>
              <a:rPr lang="ko-KR" altLang="en-US" sz="1200" dirty="0">
                <a:solidFill>
                  <a:srgbClr val="FF0000"/>
                </a:solidFill>
              </a:rPr>
              <a:t> 강제 포함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흐름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특정 테마 </a:t>
            </a:r>
            <a:r>
              <a:rPr lang="en-US" altLang="ko-KR" sz="1200" dirty="0" smtClean="0"/>
              <a:t>ID </a:t>
            </a:r>
            <a:r>
              <a:rPr lang="ko-KR" altLang="en-US" sz="1200" dirty="0" smtClean="0"/>
              <a:t>및 현재 위치 전달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반경 내 지도 객체 목록 응답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지도 위에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마커</a:t>
            </a:r>
            <a:r>
              <a:rPr lang="ko-KR" altLang="en-US" sz="1200" dirty="0" smtClean="0">
                <a:sym typeface="Wingdings" panose="05000000000000000000" pitchFamily="2" charset="2"/>
              </a:rPr>
              <a:t> 렌더링</a:t>
            </a:r>
            <a:endParaRPr lang="en-US" altLang="ko-KR" sz="12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04446"/>
              </p:ext>
            </p:extLst>
          </p:nvPr>
        </p:nvGraphicFramePr>
        <p:xfrm>
          <a:off x="654108" y="2894203"/>
          <a:ext cx="9563450" cy="2416029"/>
        </p:xfrm>
        <a:graphic>
          <a:graphicData uri="http://schemas.openxmlformats.org/drawingml/2006/table">
            <a:tbl>
              <a:tblPr/>
              <a:tblGrid>
                <a:gridCol w="1419273">
                  <a:extLst>
                    <a:ext uri="{9D8B030D-6E8A-4147-A177-3AD203B41FA5}">
                      <a16:colId xmlns:a16="http://schemas.microsoft.com/office/drawing/2014/main" val="1728119465"/>
                    </a:ext>
                  </a:extLst>
                </a:gridCol>
                <a:gridCol w="714894">
                  <a:extLst>
                    <a:ext uri="{9D8B030D-6E8A-4147-A177-3AD203B41FA5}">
                      <a16:colId xmlns:a16="http://schemas.microsoft.com/office/drawing/2014/main" val="830350293"/>
                    </a:ext>
                  </a:extLst>
                </a:gridCol>
                <a:gridCol w="588736">
                  <a:extLst>
                    <a:ext uri="{9D8B030D-6E8A-4147-A177-3AD203B41FA5}">
                      <a16:colId xmlns:a16="http://schemas.microsoft.com/office/drawing/2014/main" val="3985457432"/>
                    </a:ext>
                  </a:extLst>
                </a:gridCol>
                <a:gridCol w="6840547">
                  <a:extLst>
                    <a:ext uri="{9D8B030D-6E8A-4147-A177-3AD203B41FA5}">
                      <a16:colId xmlns:a16="http://schemas.microsoft.com/office/drawing/2014/main" val="1815568459"/>
                    </a:ext>
                  </a:extLst>
                </a:gridCol>
              </a:tblGrid>
              <a:tr h="21963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</a:t>
                      </a:r>
                      <a:r>
                        <a:rPr lang="ko-KR" altLang="en-US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6652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theme_id</a:t>
                      </a:r>
                      <a:endParaRPr lang="en-US" sz="1000" b="0" i="0" u="none" strike="noStrike" dirty="0">
                        <a:solidFill>
                          <a:srgbClr val="444746"/>
                        </a:solidFill>
                        <a:effectLst/>
                        <a:latin typeface="Google Sans Tex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조회할 테마 </a:t>
                      </a:r>
                      <a:r>
                        <a:rPr lang="en-US" altLang="ko-KR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 (</a:t>
                      </a:r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다중 검색 시 콤마 사용</a:t>
                      </a:r>
                      <a:r>
                        <a:rPr lang="en-US" altLang="ko-KR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536239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search_type</a:t>
                      </a:r>
                      <a:endParaRPr lang="en-US" sz="1000" b="0" i="0" u="none" strike="noStrike" dirty="0">
                        <a:solidFill>
                          <a:srgbClr val="444746"/>
                        </a:solidFill>
                        <a:effectLst/>
                        <a:latin typeface="Google Sans Tex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 타입 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(0: 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거리 반경 기반 검색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1: 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이름 검색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178342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coord_x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중심 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 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좌표 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search_type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0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 때 필수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522648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coord_y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중심 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Y 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좌표 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search_type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0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 때 필수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39377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distance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반경 검색 거리 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기본값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"2000" 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미터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357920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search_name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검색어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search_type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1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 때 필수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323322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content_id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특정 콘텐츠 </a:t>
                      </a:r>
                      <a:r>
                        <a:rPr 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860471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subcate_id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서브카테고리 </a:t>
                      </a:r>
                      <a:r>
                        <a:rPr 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 (</a:t>
                      </a:r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theme_id,subcate_id1,subcate_id2)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74296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페이지 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484251"/>
                  </a:ext>
                </a:extLst>
              </a:tr>
              <a:tr h="219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page_size</a:t>
                      </a:r>
                      <a:endParaRPr lang="en-US" sz="1000" b="0" i="0" u="none" strike="noStrike" dirty="0">
                        <a:solidFill>
                          <a:srgbClr val="444746"/>
                        </a:solidFill>
                        <a:effectLst/>
                        <a:latin typeface="Google Sans Tex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 번에 조회할 검색 개수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4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65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>
            <a:normAutofit fontScale="9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 </a:t>
            </a:r>
            <a:r>
              <a:rPr lang="ko-KR" altLang="en-US" dirty="0" smtClean="0"/>
              <a:t>콘텐츠 상세 정보 조회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108" y="1149176"/>
            <a:ext cx="11165980" cy="5016732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300" dirty="0" smtClean="0"/>
              <a:t>목적 </a:t>
            </a:r>
            <a:r>
              <a:rPr lang="en-US" altLang="ko-KR" sz="1300" dirty="0" smtClean="0"/>
              <a:t>: </a:t>
            </a:r>
            <a:r>
              <a:rPr lang="ko-KR" altLang="en-US" sz="1300" dirty="0" smtClean="0"/>
              <a:t>지도 위의 특정 지점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콘텐츠</a:t>
            </a:r>
            <a:r>
              <a:rPr lang="en-US" altLang="ko-KR" sz="1300" dirty="0" smtClean="0"/>
              <a:t>)</a:t>
            </a:r>
            <a:r>
              <a:rPr lang="ko-KR" altLang="en-US" sz="1300" dirty="0" smtClean="0"/>
              <a:t>을 선택했을 때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해당 지점만의 상세 데이터 확인</a:t>
            </a:r>
            <a:r>
              <a:rPr lang="en-US" altLang="ko-KR" sz="1300" dirty="0" smtClean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300" dirty="0" smtClean="0"/>
              <a:t>경로 </a:t>
            </a:r>
            <a:r>
              <a:rPr lang="en-US" altLang="ko-KR" sz="1300" dirty="0" smtClean="0"/>
              <a:t>: </a:t>
            </a:r>
            <a:r>
              <a:rPr lang="en-US" altLang="ko-KR" sz="1300" dirty="0" smtClean="0">
                <a:solidFill>
                  <a:srgbClr val="FF0000"/>
                </a:solidFill>
              </a:rPr>
              <a:t>/themes/contents/detail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300" dirty="0" smtClean="0"/>
              <a:t>주요 </a:t>
            </a:r>
            <a:r>
              <a:rPr lang="ko-KR" altLang="en-US" sz="1300" dirty="0" err="1" smtClean="0"/>
              <a:t>파라미터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(Request)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300" dirty="0">
                <a:solidFill>
                  <a:srgbClr val="FF0000"/>
                </a:solidFill>
              </a:rPr>
              <a:t>e</a:t>
            </a:r>
            <a:r>
              <a:rPr lang="en-US" altLang="ko-KR" sz="1300" dirty="0" smtClean="0">
                <a:solidFill>
                  <a:srgbClr val="FF0000"/>
                </a:solidFill>
              </a:rPr>
              <a:t>x : </a:t>
            </a:r>
            <a:r>
              <a:rPr lang="en-US" altLang="ko-KR" sz="1300" dirty="0">
                <a:solidFill>
                  <a:srgbClr val="FF0000"/>
                </a:solidFill>
              </a:rPr>
              <a:t>https://map.seoul.go.kr/openapi/v5/${themeKey}/public/themes/contents/detail?theme_id=${themeId}&amp;conts_id=${contsId}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400" dirty="0" smtClean="0"/>
              <a:t>흐름 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마커</a:t>
            </a:r>
            <a:r>
              <a:rPr lang="ko-KR" altLang="en-US" sz="1400" dirty="0" smtClean="0"/>
              <a:t> 클릭 이벤트 </a:t>
            </a:r>
            <a:r>
              <a:rPr lang="en-US" altLang="ko-KR" sz="1400" dirty="0" smtClean="0">
                <a:sym typeface="Wingdings" panose="05000000000000000000" pitchFamily="2" charset="2"/>
              </a:rPr>
              <a:t> Theme ID</a:t>
            </a:r>
            <a:r>
              <a:rPr lang="ko-KR" altLang="en-US" sz="1400" dirty="0" smtClean="0">
                <a:sym typeface="Wingdings" panose="05000000000000000000" pitchFamily="2" charset="2"/>
              </a:rPr>
              <a:t>와 </a:t>
            </a:r>
            <a:r>
              <a:rPr lang="en-US" altLang="ko-KR" sz="1400" dirty="0" smtClean="0">
                <a:sym typeface="Wingdings" panose="05000000000000000000" pitchFamily="2" charset="2"/>
              </a:rPr>
              <a:t>Content ID</a:t>
            </a:r>
            <a:r>
              <a:rPr lang="ko-KR" altLang="en-US" sz="1400" dirty="0" smtClean="0">
                <a:sym typeface="Wingdings" panose="05000000000000000000" pitchFamily="2" charset="2"/>
              </a:rPr>
              <a:t>전달 </a:t>
            </a:r>
            <a:r>
              <a:rPr lang="en-US" altLang="ko-KR" sz="1400" dirty="0" smtClean="0">
                <a:sym typeface="Wingdings" panose="05000000000000000000" pitchFamily="2" charset="2"/>
              </a:rPr>
              <a:t> </a:t>
            </a:r>
            <a:r>
              <a:rPr lang="ko-KR" altLang="en-US" sz="1400" dirty="0" smtClean="0">
                <a:sym typeface="Wingdings" panose="05000000000000000000" pitchFamily="2" charset="2"/>
              </a:rPr>
              <a:t>해당 지점의 상세정보 응답 </a:t>
            </a:r>
            <a:r>
              <a:rPr lang="en-US" altLang="ko-KR" sz="1400" dirty="0" smtClean="0">
                <a:sym typeface="Wingdings" panose="05000000000000000000" pitchFamily="2" charset="2"/>
              </a:rPr>
              <a:t> </a:t>
            </a:r>
            <a:r>
              <a:rPr lang="ko-KR" altLang="en-US" sz="1400" dirty="0" smtClean="0">
                <a:sym typeface="Wingdings" panose="05000000000000000000" pitchFamily="2" charset="2"/>
              </a:rPr>
              <a:t>상세</a:t>
            </a:r>
            <a:r>
              <a:rPr lang="en-US" altLang="ko-KR" sz="1400" dirty="0" smtClean="0">
                <a:sym typeface="Wingdings" panose="05000000000000000000" pitchFamily="2" charset="2"/>
              </a:rPr>
              <a:t> </a:t>
            </a:r>
            <a:r>
              <a:rPr lang="ko-KR" altLang="en-US" sz="1400" dirty="0" smtClean="0">
                <a:sym typeface="Wingdings" panose="05000000000000000000" pitchFamily="2" charset="2"/>
              </a:rPr>
              <a:t>뷰어 출력</a:t>
            </a:r>
            <a:endParaRPr lang="en-US" altLang="ko-KR" sz="1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5234"/>
              </p:ext>
            </p:extLst>
          </p:nvPr>
        </p:nvGraphicFramePr>
        <p:xfrm>
          <a:off x="944983" y="3079415"/>
          <a:ext cx="8972609" cy="1400307"/>
        </p:xfrm>
        <a:graphic>
          <a:graphicData uri="http://schemas.openxmlformats.org/drawingml/2006/table">
            <a:tbl>
              <a:tblPr/>
              <a:tblGrid>
                <a:gridCol w="1331589">
                  <a:extLst>
                    <a:ext uri="{9D8B030D-6E8A-4147-A177-3AD203B41FA5}">
                      <a16:colId xmlns:a16="http://schemas.microsoft.com/office/drawing/2014/main" val="1659770984"/>
                    </a:ext>
                  </a:extLst>
                </a:gridCol>
                <a:gridCol w="670727">
                  <a:extLst>
                    <a:ext uri="{9D8B030D-6E8A-4147-A177-3AD203B41FA5}">
                      <a16:colId xmlns:a16="http://schemas.microsoft.com/office/drawing/2014/main" val="60390723"/>
                    </a:ext>
                  </a:extLst>
                </a:gridCol>
                <a:gridCol w="552363">
                  <a:extLst>
                    <a:ext uri="{9D8B030D-6E8A-4147-A177-3AD203B41FA5}">
                      <a16:colId xmlns:a16="http://schemas.microsoft.com/office/drawing/2014/main" val="445879881"/>
                    </a:ext>
                  </a:extLst>
                </a:gridCol>
                <a:gridCol w="6417930">
                  <a:extLst>
                    <a:ext uri="{9D8B030D-6E8A-4147-A177-3AD203B41FA5}">
                      <a16:colId xmlns:a16="http://schemas.microsoft.com/office/drawing/2014/main" val="3230508388"/>
                    </a:ext>
                  </a:extLst>
                </a:gridCol>
              </a:tblGrid>
              <a:tr h="46676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</a:t>
                      </a:r>
                      <a:r>
                        <a:rPr lang="ko-KR" altLang="en-US" sz="11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60198"/>
                  </a:ext>
                </a:extLst>
              </a:tr>
              <a:tr h="46676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theme_id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해당 콘텐츠가 속한 테마 </a:t>
                      </a:r>
                      <a:r>
                        <a:rPr lang="en-US" altLang="ko-KR" sz="11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451696"/>
                  </a:ext>
                </a:extLst>
              </a:tr>
              <a:tr h="46676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conts_id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조회할 특정 컨텐츠 </a:t>
                      </a:r>
                      <a:r>
                        <a:rPr lang="en-US" altLang="ko-KR" sz="11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165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6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>
            <a:normAutofit fontScale="9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 </a:t>
            </a:r>
            <a:r>
              <a:rPr lang="ko-KR" altLang="en-US" dirty="0" smtClean="0"/>
              <a:t>다국어 테마 리스트 조회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108" y="1149176"/>
            <a:ext cx="11165980" cy="5016732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목적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외국인 사용자를 위한 다국어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영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일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중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테마 목록 조회 </a:t>
            </a: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경로 </a:t>
            </a:r>
            <a:r>
              <a:rPr lang="en-US" altLang="ko-KR" sz="1200" dirty="0" smtClean="0"/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/themes/ml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err="1" smtClean="0"/>
              <a:t>파라미터</a:t>
            </a:r>
            <a:r>
              <a:rPr lang="en-US" altLang="ko-KR" sz="1200" dirty="0" smtClean="0"/>
              <a:t>(Request)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solidFill>
                  <a:srgbClr val="FF0000"/>
                </a:solidFill>
              </a:rPr>
              <a:t>e</a:t>
            </a:r>
            <a:r>
              <a:rPr lang="en-US" altLang="ko-KR" sz="1200" dirty="0" smtClean="0">
                <a:solidFill>
                  <a:srgbClr val="FF0000"/>
                </a:solidFill>
              </a:rPr>
              <a:t>x : https</a:t>
            </a:r>
            <a:r>
              <a:rPr lang="en-US" altLang="ko-KR" sz="1200" dirty="0">
                <a:solidFill>
                  <a:srgbClr val="FF0000"/>
                </a:solidFill>
              </a:rPr>
              <a:t>://map.seoul.go.kr/openapi/v5/{OpenAPIThemeKey}/public/themes/ml?page_size=20&amp;page_no=1&amp;lan_type=ENG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흐름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언어 설정 선택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요청 언어 코드 전달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해당 언어로 번역된 테마 목록 응답</a:t>
            </a:r>
            <a:endParaRPr lang="en-US" altLang="ko-KR" sz="12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855656"/>
              </p:ext>
            </p:extLst>
          </p:nvPr>
        </p:nvGraphicFramePr>
        <p:xfrm>
          <a:off x="867677" y="2961489"/>
          <a:ext cx="9652118" cy="1350452"/>
        </p:xfrm>
        <a:graphic>
          <a:graphicData uri="http://schemas.openxmlformats.org/drawingml/2006/table">
            <a:tbl>
              <a:tblPr/>
              <a:tblGrid>
                <a:gridCol w="1432432">
                  <a:extLst>
                    <a:ext uri="{9D8B030D-6E8A-4147-A177-3AD203B41FA5}">
                      <a16:colId xmlns:a16="http://schemas.microsoft.com/office/drawing/2014/main" val="979908005"/>
                    </a:ext>
                  </a:extLst>
                </a:gridCol>
                <a:gridCol w="721522">
                  <a:extLst>
                    <a:ext uri="{9D8B030D-6E8A-4147-A177-3AD203B41FA5}">
                      <a16:colId xmlns:a16="http://schemas.microsoft.com/office/drawing/2014/main" val="2152343317"/>
                    </a:ext>
                  </a:extLst>
                </a:gridCol>
                <a:gridCol w="594195">
                  <a:extLst>
                    <a:ext uri="{9D8B030D-6E8A-4147-A177-3AD203B41FA5}">
                      <a16:colId xmlns:a16="http://schemas.microsoft.com/office/drawing/2014/main" val="4016543619"/>
                    </a:ext>
                  </a:extLst>
                </a:gridCol>
                <a:gridCol w="6903969">
                  <a:extLst>
                    <a:ext uri="{9D8B030D-6E8A-4147-A177-3AD203B41FA5}">
                      <a16:colId xmlns:a16="http://schemas.microsoft.com/office/drawing/2014/main" val="2701696520"/>
                    </a:ext>
                  </a:extLst>
                </a:gridCol>
              </a:tblGrid>
              <a:tr h="33761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</a:t>
                      </a:r>
                      <a:r>
                        <a:rPr lang="ko-KR" altLang="en-US" sz="12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167909"/>
                  </a:ext>
                </a:extLst>
              </a:tr>
              <a:tr h="3376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lan_type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요청 언어 </a:t>
                      </a:r>
                      <a:r>
                        <a:rPr lang="en-US" altLang="ko-KR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(KOR:</a:t>
                      </a:r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국문</a:t>
                      </a:r>
                      <a:r>
                        <a:rPr lang="en-US" altLang="ko-KR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ENG:</a:t>
                      </a:r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영문</a:t>
                      </a:r>
                      <a:r>
                        <a:rPr lang="en-US" altLang="ko-KR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JP:</a:t>
                      </a:r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일문</a:t>
                      </a:r>
                      <a:r>
                        <a:rPr lang="en-US" altLang="ko-KR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CHA:</a:t>
                      </a:r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중문 간체</a:t>
                      </a:r>
                      <a:r>
                        <a:rPr lang="en-US" altLang="ko-KR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13332"/>
                  </a:ext>
                </a:extLst>
              </a:tr>
              <a:tr h="3376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페이지 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746613"/>
                  </a:ext>
                </a:extLst>
              </a:tr>
              <a:tr h="3376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page_size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 번에 조회할 검색 개수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0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16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>
            <a:normAutofit fontScale="9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 </a:t>
            </a:r>
            <a:r>
              <a:rPr lang="ko-KR" altLang="en-US" dirty="0" smtClean="0"/>
              <a:t>다국어 테마 콘텐츠 리스트 조회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3281" y="1149176"/>
            <a:ext cx="11948719" cy="5016732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목적 </a:t>
            </a:r>
            <a:r>
              <a:rPr lang="en-US" altLang="ko-KR" sz="1200" dirty="0" smtClean="0"/>
              <a:t>: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선택한 다국어 테마에 속한 실제 지도 콘텐츠 목록을 해당 언어로 조회</a:t>
            </a: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경로 </a:t>
            </a:r>
            <a:r>
              <a:rPr lang="en-US" altLang="ko-KR" sz="1200" dirty="0" smtClean="0"/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/themes/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contentes</a:t>
            </a:r>
            <a:r>
              <a:rPr lang="en-US" altLang="ko-KR" sz="1200" dirty="0" smtClean="0">
                <a:solidFill>
                  <a:srgbClr val="FF0000"/>
                </a:solidFill>
              </a:rPr>
              <a:t>/ml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err="1" smtClean="0"/>
              <a:t>파라미터</a:t>
            </a:r>
            <a:r>
              <a:rPr lang="en-US" altLang="ko-KR" sz="1200" dirty="0" smtClean="0"/>
              <a:t>(Request)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 smtClean="0">
                <a:solidFill>
                  <a:srgbClr val="FF0000"/>
                </a:solidFill>
              </a:rPr>
              <a:t>ex :https</a:t>
            </a:r>
            <a:r>
              <a:rPr lang="en-US" altLang="ko-KR" sz="1200" dirty="0">
                <a:solidFill>
                  <a:srgbClr val="FF0000"/>
                </a:solidFill>
              </a:rPr>
              <a:t>://map.seoul.go.kr/openapi/v5/{OpenAPIThemeKey}/public/themes/contents/ml?page_size=20&amp;page_no=1&amp;coord_x=126.974695&amp;coord_y=37.564150&amp;distance=2000&amp;search_type=0&amp;search_name=&amp;theme_id=1666576356838&amp;content_id=&amp;subcate_id=&amp;lan_type=ENG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200" dirty="0" smtClean="0"/>
              <a:t>흐름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위치 정보와 요청 언어 전달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외국어 주소 및 이름이 포함된 지도 객체 목록 응답</a:t>
            </a:r>
            <a:endParaRPr lang="en-US" altLang="ko-KR" sz="1200" dirty="0" smtClean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133931"/>
              </p:ext>
            </p:extLst>
          </p:nvPr>
        </p:nvGraphicFramePr>
        <p:xfrm>
          <a:off x="1011688" y="2802797"/>
          <a:ext cx="7788363" cy="2800356"/>
        </p:xfrm>
        <a:graphic>
          <a:graphicData uri="http://schemas.openxmlformats.org/drawingml/2006/table">
            <a:tbl>
              <a:tblPr/>
              <a:tblGrid>
                <a:gridCol w="1155840">
                  <a:extLst>
                    <a:ext uri="{9D8B030D-6E8A-4147-A177-3AD203B41FA5}">
                      <a16:colId xmlns:a16="http://schemas.microsoft.com/office/drawing/2014/main" val="839372571"/>
                    </a:ext>
                  </a:extLst>
                </a:gridCol>
                <a:gridCol w="582201">
                  <a:extLst>
                    <a:ext uri="{9D8B030D-6E8A-4147-A177-3AD203B41FA5}">
                      <a16:colId xmlns:a16="http://schemas.microsoft.com/office/drawing/2014/main" val="1232380002"/>
                    </a:ext>
                  </a:extLst>
                </a:gridCol>
                <a:gridCol w="479460">
                  <a:extLst>
                    <a:ext uri="{9D8B030D-6E8A-4147-A177-3AD203B41FA5}">
                      <a16:colId xmlns:a16="http://schemas.microsoft.com/office/drawing/2014/main" val="3131373187"/>
                    </a:ext>
                  </a:extLst>
                </a:gridCol>
                <a:gridCol w="5570862">
                  <a:extLst>
                    <a:ext uri="{9D8B030D-6E8A-4147-A177-3AD203B41FA5}">
                      <a16:colId xmlns:a16="http://schemas.microsoft.com/office/drawing/2014/main" val="2659719666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 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668374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theme_id</a:t>
                      </a:r>
                      <a:endParaRPr lang="en-US" sz="1050" b="0" i="0" u="none" strike="noStrike" dirty="0">
                        <a:solidFill>
                          <a:srgbClr val="444746"/>
                        </a:solidFill>
                        <a:effectLst/>
                        <a:latin typeface="Google Sans Tex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조회할 테마 </a:t>
                      </a:r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212394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lan_type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요청 언어 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(KOR: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국문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ENG: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영문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JP: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일문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CHA: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중문 간체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882189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search_type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 타입 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(0: 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거리 반경 기반 검색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1: 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이름 검색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171311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coord_x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중심 </a:t>
                      </a:r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X 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좌표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447113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coord_y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중심 </a:t>
                      </a:r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Y 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좌표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094168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distance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반경 검색 거리 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기본값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"2000" </a:t>
                      </a:r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미터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451992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search_name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검색어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242833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content_id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특정 콘텐츠 </a:t>
                      </a:r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958165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subcate_id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서브카테고리 </a:t>
                      </a:r>
                      <a:r>
                        <a:rPr lang="en-US" altLang="ko-KR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432328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페이지 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497455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  <a:ea typeface="맑은 고딕" panose="020B0503020000020004" pitchFamily="50" charset="-127"/>
                        </a:rPr>
                        <a:t>page_size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 번에 조회할 검색 개수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14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80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4108" y="331948"/>
            <a:ext cx="9554361" cy="639046"/>
          </a:xfrm>
        </p:spPr>
        <p:txBody>
          <a:bodyPr rtlCol="0">
            <a:normAutofit fontScale="9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 </a:t>
            </a:r>
            <a:r>
              <a:rPr lang="ko-KR" altLang="en-US" dirty="0" smtClean="0"/>
              <a:t>융합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108" y="1149176"/>
            <a:ext cx="11165980" cy="5016732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원하는 테마 선정</a:t>
            </a:r>
            <a:endParaRPr lang="en-US" altLang="ko-KR" sz="18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 err="1" smtClean="0"/>
              <a:t>배경지도</a:t>
            </a:r>
            <a:r>
              <a:rPr lang="en-US" altLang="ko-KR" sz="1800" dirty="0" smtClean="0"/>
              <a:t>, </a:t>
            </a:r>
            <a:r>
              <a:rPr lang="ko-KR" altLang="en-US" sz="1800" dirty="0" err="1" smtClean="0"/>
              <a:t>주소정제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테마 </a:t>
            </a:r>
            <a:r>
              <a:rPr lang="en-US" altLang="ko-KR" sz="1800" dirty="0" smtClean="0"/>
              <a:t>API</a:t>
            </a:r>
            <a:r>
              <a:rPr lang="ko-KR" altLang="en-US" sz="1800" dirty="0" smtClean="0"/>
              <a:t>활용해서 결과물 만들기</a:t>
            </a:r>
            <a:endParaRPr lang="en-US" altLang="ko-KR" sz="18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100028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다이아몬드 눈금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35_TF03031015.potx" id="{F6057CD7-E939-41B0-9CD8-F78C3ECD62E6}" vid="{727B2B63-277E-450C-810D-266E0B2ED1D9}"/>
    </a:ext>
  </a:extLst>
</a:theme>
</file>

<file path=ppt/theme/theme2.xml><?xml version="1.0" encoding="utf-8"?>
<a:theme xmlns:a="http://schemas.openxmlformats.org/drawingml/2006/main" name="Office 테마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비즈니스 다이아몬드 눈금 프레젠테이션(와이드스크린)</Template>
  <TotalTime>5150</TotalTime>
  <Words>1831</Words>
  <Application>Microsoft Office PowerPoint</Application>
  <PresentationFormat>와이드스크린</PresentationFormat>
  <Paragraphs>436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Google Sans Text</vt:lpstr>
      <vt:lpstr>HY중고딕</vt:lpstr>
      <vt:lpstr>맑은 고딕</vt:lpstr>
      <vt:lpstr>Arial</vt:lpstr>
      <vt:lpstr>Wingdings</vt:lpstr>
      <vt:lpstr>다이아몬드 눈금 16x9</vt:lpstr>
      <vt:lpstr>실습 준비</vt:lpstr>
      <vt:lpstr>API 흐름</vt:lpstr>
      <vt:lpstr>법정동</vt:lpstr>
      <vt:lpstr>행정동</vt:lpstr>
      <vt:lpstr>주소 정제 API</vt:lpstr>
      <vt:lpstr>주소정제 데이터베이스 갱신</vt:lpstr>
      <vt:lpstr>호출 API 형식</vt:lpstr>
      <vt:lpstr>주소 정제 (Geocoding) : 주소 -&gt; 좌표 </vt:lpstr>
      <vt:lpstr>주소 정제 (Reverse Geocoding) : 좌표 -&gt; 주소</vt:lpstr>
      <vt:lpstr>도로명 주소 / 키워드 검색 </vt:lpstr>
      <vt:lpstr>테마</vt:lpstr>
      <vt:lpstr>기본 통신 규격 및 설명 </vt:lpstr>
      <vt:lpstr>전체 데이터 흐름 (Data Flow)</vt:lpstr>
      <vt:lpstr> 테마 리스트 조회 (국문)</vt:lpstr>
      <vt:lpstr> 콘텐츠 리스트 조회(국문)</vt:lpstr>
      <vt:lpstr> 콘텐츠 상세 정보 조회</vt:lpstr>
      <vt:lpstr> 다국어 테마 리스트 조회</vt:lpstr>
      <vt:lpstr> 다국어 테마 콘텐츠 리스트 조회</vt:lpstr>
      <vt:lpstr> 융합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스마트서울맵 API</dc:title>
  <dc:creator>Administrator</dc:creator>
  <cp:lastModifiedBy>Administrator</cp:lastModifiedBy>
  <cp:revision>273</cp:revision>
  <dcterms:created xsi:type="dcterms:W3CDTF">2026-04-30T01:37:40Z</dcterms:created>
  <dcterms:modified xsi:type="dcterms:W3CDTF">2026-05-11T06:29:44Z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